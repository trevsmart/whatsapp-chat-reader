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64" r:id="rId3"/>
    <p:sldId id="257" r:id="rId4"/>
    <p:sldId id="265" r:id="rId5"/>
    <p:sldId id="258" r:id="rId6"/>
    <p:sldId id="279" r:id="rId7"/>
    <p:sldId id="277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5" r:id="rId16"/>
    <p:sldId id="282" r:id="rId17"/>
    <p:sldId id="290" r:id="rId18"/>
    <p:sldId id="292" r:id="rId19"/>
    <p:sldId id="293" r:id="rId20"/>
    <p:sldId id="294" r:id="rId21"/>
    <p:sldId id="281" r:id="rId22"/>
    <p:sldId id="298" r:id="rId23"/>
    <p:sldId id="297" r:id="rId2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Estilo medio 4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4"/>
  </p:normalViewPr>
  <p:slideViewPr>
    <p:cSldViewPr snapToGrid="0" snapToObjects="1">
      <p:cViewPr>
        <p:scale>
          <a:sx n="150" d="100"/>
          <a:sy n="150" d="100"/>
        </p:scale>
        <p:origin x="80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68E0F-C769-BA44-9005-E590FC7C087B}" type="datetimeFigureOut">
              <a:rPr lang="es-ES_tradnl" smtClean="0"/>
              <a:t>4/3/22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ED88BD-2454-D348-ADEA-822E66AA768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63288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D88BD-2454-D348-ADEA-822E66AA7688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3912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D88BD-2454-D348-ADEA-822E66AA7688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91020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D88BD-2454-D348-ADEA-822E66AA7688}" type="slidenum">
              <a:rPr lang="es-ES_tradnl" smtClean="0"/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3322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D88BD-2454-D348-ADEA-822E66AA7688}" type="slidenum">
              <a:rPr lang="es-ES_tradnl" smtClean="0"/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03932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D88BD-2454-D348-ADEA-822E66AA7688}" type="slidenum">
              <a:rPr lang="es-ES_tradnl" smtClean="0"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63429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D88BD-2454-D348-ADEA-822E66AA7688}" type="slidenum">
              <a:rPr lang="es-ES_tradnl" smtClean="0"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49912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D88BD-2454-D348-ADEA-822E66AA7688}" type="slidenum">
              <a:rPr lang="es-ES_tradnl" smtClean="0"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77725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D88BD-2454-D348-ADEA-822E66AA7688}" type="slidenum">
              <a:rPr lang="es-ES_tradnl" smtClean="0"/>
              <a:t>13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18328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D88BD-2454-D348-ADEA-822E66AA7688}" type="slidenum">
              <a:rPr lang="es-ES_tradnl" smtClean="0"/>
              <a:t>14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8196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D88BD-2454-D348-ADEA-822E66AA7688}" type="slidenum">
              <a:rPr lang="es-ES_tradnl" smtClean="0"/>
              <a:t>15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63480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D88BD-2454-D348-ADEA-822E66AA7688}" type="slidenum">
              <a:rPr lang="es-ES_tradnl" smtClean="0"/>
              <a:t>16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324996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D88BD-2454-D348-ADEA-822E66AA7688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115905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D88BD-2454-D348-ADEA-822E66AA7688}" type="slidenum">
              <a:rPr lang="es-ES_tradnl" smtClean="0"/>
              <a:t>18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360096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D88BD-2454-D348-ADEA-822E66AA7688}" type="slidenum">
              <a:rPr lang="es-ES_tradnl" smtClean="0"/>
              <a:t>19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298022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D88BD-2454-D348-ADEA-822E66AA7688}" type="slidenum">
              <a:rPr lang="es-ES_tradnl" smtClean="0"/>
              <a:t>20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98592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D88BD-2454-D348-ADEA-822E66AA7688}" type="slidenum">
              <a:rPr lang="es-ES_tradnl" smtClean="0"/>
              <a:t>21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429088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D88BD-2454-D348-ADEA-822E66AA7688}" type="slidenum">
              <a:rPr lang="es-ES_tradnl" smtClean="0"/>
              <a:t>22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06135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D88BD-2454-D348-ADEA-822E66AA7688}" type="slidenum">
              <a:rPr lang="es-ES_tradnl" smtClean="0"/>
              <a:t>23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8470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0F6FF-BC65-1247-BDEE-D8D64D2B5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E7DA1A-3E87-DA46-944B-E3483B58C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7ECBC1-18DA-864C-8FD8-42EB2BB31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5BA1-609C-4E4E-8978-8BD96921CEF3}" type="datetimeFigureOut">
              <a:rPr lang="es-ES_tradnl" smtClean="0"/>
              <a:t>4/3/22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795509-C6D7-114B-A5A3-71B69B7E3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8DEED1-F067-D044-979D-E632E6C79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E62C-5631-9640-AB5B-AE5B647F89D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62176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548E4-314E-A14D-BEFA-2B78F7680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66EDF1-85AC-8E44-8BCC-383351C36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81F2A9-C76A-B74F-A747-4C7BAC74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5BA1-609C-4E4E-8978-8BD96921CEF3}" type="datetimeFigureOut">
              <a:rPr lang="es-ES_tradnl" smtClean="0"/>
              <a:t>4/3/22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4F22AF-E200-F34D-8218-F915D6947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867635-6591-7142-A584-7409B4898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E62C-5631-9640-AB5B-AE5B647F89D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25678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19ABC-817A-E24A-8629-DC3A08893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999959-A726-3241-90A6-AA38A421D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F0ED97-B3B7-0740-9712-6FFA7833D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5BA1-609C-4E4E-8978-8BD96921CEF3}" type="datetimeFigureOut">
              <a:rPr lang="es-ES_tradnl" smtClean="0"/>
              <a:t>4/3/22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061D1F-27D0-2842-A89B-2E062C407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14A327-212A-B24E-A741-8EC154F2E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E62C-5631-9640-AB5B-AE5B647F89D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85593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172C6-F40E-E941-8A21-7496D680C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2635D7-9C44-DD40-A634-E50E097E10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1E14DF-80DC-7849-B543-FA5212BD5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4294AE-B847-A94C-BF96-2E6DD18B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5BA1-609C-4E4E-8978-8BD96921CEF3}" type="datetimeFigureOut">
              <a:rPr lang="es-ES_tradnl" smtClean="0"/>
              <a:t>4/3/22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204068-F7F8-494F-A2C6-BFF10A2FF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2C820B-C25A-F548-AD5A-703726B72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E62C-5631-9640-AB5B-AE5B647F89D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2245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EF862-296A-B442-ABF4-8FE514F05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6B9839-5299-8443-AC1D-8D33098FA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8EC158-B58C-1141-8A2B-429C705F9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BF71F1-A6E6-9F43-B814-DC4501A9F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996F503-9339-CD44-AA11-43C48D064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4B29FF7-F6DA-B140-999B-76110769B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5BA1-609C-4E4E-8978-8BD96921CEF3}" type="datetimeFigureOut">
              <a:rPr lang="es-ES_tradnl" smtClean="0"/>
              <a:t>4/3/22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75D2324-90F5-304D-B16D-332CBFCF9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7300197-9A27-1D42-A7F5-F0355E618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E62C-5631-9640-AB5B-AE5B647F89D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54026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3AC3D0-EAF5-C446-A555-4EB659426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497842E-1002-C240-86B7-425B81FE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5BA1-609C-4E4E-8978-8BD96921CEF3}" type="datetimeFigureOut">
              <a:rPr lang="es-ES_tradnl" smtClean="0"/>
              <a:t>4/3/22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389EFE6-767A-9047-9264-6613FD255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A03CF3F-389C-9042-86BB-BD5813760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E62C-5631-9640-AB5B-AE5B647F89D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77812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5A934D0-F2F7-C048-8136-933379A0D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5BA1-609C-4E4E-8978-8BD96921CEF3}" type="datetimeFigureOut">
              <a:rPr lang="es-ES_tradnl" smtClean="0"/>
              <a:t>4/3/22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ED5C2F6-8BE0-8741-A3F2-C3BFBE8E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3A0029-71A7-D842-84DC-EC98515B5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E62C-5631-9640-AB5B-AE5B647F89D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01068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A0F57B-DA2A-4C46-A588-DCEDF9883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1B6693-EA87-4444-910B-8D55E0593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71C56DB-81F5-DB40-BA49-540A99473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7E7BE1-7972-4149-A756-5800378EC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5BA1-609C-4E4E-8978-8BD96921CEF3}" type="datetimeFigureOut">
              <a:rPr lang="es-ES_tradnl" smtClean="0"/>
              <a:t>4/3/22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A7EF01-A8A8-1A4F-94BA-40CDEC520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20A911-ED96-504F-A782-E5F4349E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E62C-5631-9640-AB5B-AE5B647F89D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49515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6AB40-7F80-0F4B-B175-D64A36D90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BC479B2-73A5-6941-86CA-8019E498E2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0466CB-68A8-F64F-8557-4B9245CDD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2248D2-FB92-6F4E-AF94-1C2526267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5BA1-609C-4E4E-8978-8BD96921CEF3}" type="datetimeFigureOut">
              <a:rPr lang="es-ES_tradnl" smtClean="0"/>
              <a:t>4/3/22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2CE96B-09B1-F441-A6C2-E15EA4B0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0D9B6F-89E3-0645-A7E9-609034893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E62C-5631-9640-AB5B-AE5B647F89D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79838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C00CB-4619-F94D-9B12-DA8AAEA5B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478AD9-5A22-1F4E-8CA9-EA3574D71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F70DF3-D806-334F-BC83-D469C8229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5BA1-609C-4E4E-8978-8BD96921CEF3}" type="datetimeFigureOut">
              <a:rPr lang="es-ES_tradnl" smtClean="0"/>
              <a:t>4/3/22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26CAF3-6951-914E-88C3-599FC15A7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855B09-000F-284D-B47B-534D7619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E62C-5631-9640-AB5B-AE5B647F89D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98603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C5D0A1-D38D-204E-8DA3-7E1448E71C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6C08CFA-F2FA-F147-A0F0-700783DA6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7511BC-E47C-7B4D-A5F7-2A0EB398A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5BA1-609C-4E4E-8978-8BD96921CEF3}" type="datetimeFigureOut">
              <a:rPr lang="es-ES_tradnl" smtClean="0"/>
              <a:t>4/3/22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7100A0-7274-1B49-9359-80E5B8BCE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8E817-1CA9-5143-82EC-485838AC4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E62C-5631-9640-AB5B-AE5B647F89D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24242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DC10878-33A2-454F-A458-5735DC139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AD916F-ED91-C844-A1CD-1C2E2F50C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AD68B5-063D-444C-BA48-999E26B48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05BA1-609C-4E4E-8978-8BD96921CEF3}" type="datetimeFigureOut">
              <a:rPr lang="es-ES_tradnl" smtClean="0"/>
              <a:t>4/3/22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72BCDE-8B00-814E-819C-01A012E85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5AE958-A245-FD4A-9441-D64AA573A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8E62C-5631-9640-AB5B-AE5B647F89D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70939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aixabankcc.my.salesforce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slide" Target="slide1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slide" Target="slide13.xml"/><Relationship Id="rId4" Type="http://schemas.openxmlformats.org/officeDocument/2006/relationships/slide" Target="sl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6.xml"/><Relationship Id="rId5" Type="http://schemas.openxmlformats.org/officeDocument/2006/relationships/slide" Target="slide14.xml"/><Relationship Id="rId4" Type="http://schemas.openxmlformats.org/officeDocument/2006/relationships/slide" Target="slid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slide" Target="slide14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oficinatecnica.salesforce@caixabanktech.com" TargetMode="Externa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hyperlink" Target="mailto:oficinatecnica.salesforce@caixabanktech.com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2EF11-FDE9-7E4B-92FF-8A4D765F7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2929" y="3646957"/>
            <a:ext cx="5838398" cy="898980"/>
          </a:xfrm>
        </p:spPr>
        <p:txBody>
          <a:bodyPr>
            <a:normAutofit fontScale="90000"/>
          </a:bodyPr>
          <a:lstStyle/>
          <a:p>
            <a:pPr algn="l"/>
            <a:r>
              <a:rPr lang="es-ES_tradnl" sz="4800" dirty="0">
                <a:latin typeface="SalesforceSans-Regular" panose="020B0505020202020203" pitchFamily="34" charset="77"/>
              </a:rPr>
              <a:t>Aplicación </a:t>
            </a:r>
            <a:r>
              <a:rPr lang="es-ES_tradnl" sz="4800" b="1" dirty="0" err="1">
                <a:latin typeface="SalesforceSans-Regular" panose="020B0505020202020203" pitchFamily="34" charset="77"/>
              </a:rPr>
              <a:t>Outbound</a:t>
            </a:r>
            <a:endParaRPr lang="es-ES_tradnl" b="1">
              <a:latin typeface="SalesforceSans-Regular" panose="020B0505020202020203" pitchFamily="34" charset="77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A6FE875-EC65-E643-9309-4241165B1E9A}"/>
              </a:ext>
            </a:extLst>
          </p:cNvPr>
          <p:cNvSpPr txBox="1">
            <a:spLocks/>
          </p:cNvSpPr>
          <p:nvPr/>
        </p:nvSpPr>
        <p:spPr>
          <a:xfrm>
            <a:off x="3601927" y="3437459"/>
            <a:ext cx="5228795" cy="48430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1900">
                <a:latin typeface="SalesforceSans-Regular" panose="020B0505020202020203" pitchFamily="34" charset="77"/>
              </a:rPr>
              <a:t>MANUAL DE USUARIO - </a:t>
            </a:r>
            <a:r>
              <a:rPr lang="es-ES_tradnl" sz="1900" b="1">
                <a:latin typeface="SalesforceSans-Regular" panose="020B0505020202020203" pitchFamily="34" charset="77"/>
              </a:rPr>
              <a:t>ADMINISTRACIÓN</a:t>
            </a:r>
            <a:endParaRPr lang="es-ES_tradnl" sz="1900">
              <a:latin typeface="SalesforceSans-Regular" panose="020B0505020202020203" pitchFamily="34" charset="77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A2F0DC6-D433-7944-9002-B88D951AE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449" y="3563838"/>
            <a:ext cx="898980" cy="89898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595C338-5994-FD4F-A7B7-9D3D8AA91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7144" y="5899685"/>
            <a:ext cx="2025580" cy="298921"/>
          </a:xfrm>
          <a:prstGeom prst="rect">
            <a:avLst/>
          </a:prstGeom>
        </p:spPr>
      </p:pic>
      <p:pic>
        <p:nvPicPr>
          <p:cNvPr id="1026" name="Picture 2" descr="Portal de la Filial Tecnológica de Caixabank Silk">
            <a:extLst>
              <a:ext uri="{FF2B5EF4-FFF2-40B4-BE49-F238E27FC236}">
                <a16:creationId xmlns:a16="http://schemas.microsoft.com/office/drawing/2014/main" id="{1E8608D4-A424-6545-91E7-C81A7CEE8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019" y="5817315"/>
            <a:ext cx="1739581" cy="436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6631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959"/>
            <a:ext cx="10515600" cy="1325563"/>
          </a:xfrm>
        </p:spPr>
        <p:txBody>
          <a:bodyPr/>
          <a:lstStyle/>
          <a:p>
            <a:r>
              <a:rPr lang="es-ES_tradnl" dirty="0"/>
              <a:t>Contenido de este documento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A937C9E-0CA5-EC4E-87EA-BAD903B42911}"/>
              </a:ext>
            </a:extLst>
          </p:cNvPr>
          <p:cNvSpPr txBox="1"/>
          <p:nvPr/>
        </p:nvSpPr>
        <p:spPr>
          <a:xfrm>
            <a:off x="1058483" y="1206086"/>
            <a:ext cx="4483100" cy="5066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1600" b="1" dirty="0"/>
              <a:t>App </a:t>
            </a:r>
            <a:r>
              <a:rPr lang="es-ES_tradnl" sz="1600" b="1" dirty="0" err="1"/>
              <a:t>Outbound</a:t>
            </a:r>
            <a:endParaRPr lang="es-ES_tradnl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1600" b="1" dirty="0"/>
              <a:t>Objetos relevantes para la administración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1600" dirty="0"/>
              <a:t>Parametrización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_tradnl" sz="1600" dirty="0"/>
              <a:t>Plataformas</a:t>
            </a:r>
          </a:p>
          <a:p>
            <a:pPr lvl="2"/>
            <a:endParaRPr lang="es-ES_tradnl" sz="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_tradnl" sz="1600" dirty="0"/>
              <a:t>Familias de producto</a:t>
            </a:r>
          </a:p>
          <a:p>
            <a:pPr lvl="2"/>
            <a:endParaRPr lang="es-ES_tradnl" sz="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_tradnl" sz="1600" dirty="0"/>
              <a:t>Productos</a:t>
            </a:r>
          </a:p>
          <a:p>
            <a:pPr lvl="2"/>
            <a:endParaRPr lang="es-ES_tradnl" sz="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_tradnl" sz="1600" dirty="0"/>
              <a:t>Campañas</a:t>
            </a:r>
          </a:p>
          <a:p>
            <a:pPr lvl="2"/>
            <a:endParaRPr lang="es-ES_tradnl" sz="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_tradnl" sz="1600" dirty="0"/>
              <a:t>Relaciones Campaña – Producto</a:t>
            </a:r>
          </a:p>
          <a:p>
            <a:pPr lvl="2"/>
            <a:endParaRPr lang="es-ES_tradnl" sz="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_tradnl" sz="1600" dirty="0"/>
              <a:t>Resultados de cierre</a:t>
            </a:r>
          </a:p>
          <a:p>
            <a:pPr lvl="2"/>
            <a:endParaRPr lang="es-ES_tradnl" sz="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_tradnl" sz="1600" dirty="0"/>
              <a:t>Agrupadores de plantillas</a:t>
            </a:r>
          </a:p>
          <a:p>
            <a:pPr lvl="2"/>
            <a:endParaRPr lang="es-ES_tradnl" sz="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_tradnl" sz="1600" dirty="0"/>
              <a:t>Plantillas por tipo e idioma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1600" dirty="0"/>
              <a:t>Plantillas de correo electrónico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1600" dirty="0"/>
              <a:t>Grupos públicos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1600" dirty="0"/>
              <a:t>Usuarios</a:t>
            </a:r>
            <a:endParaRPr lang="es-ES_tradnl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1324B967-3B35-064A-9722-1EA4CFCDA673}"/>
              </a:ext>
            </a:extLst>
          </p:cNvPr>
          <p:cNvGrpSpPr/>
          <p:nvPr/>
        </p:nvGrpSpPr>
        <p:grpSpPr>
          <a:xfrm>
            <a:off x="6002869" y="4697960"/>
            <a:ext cx="5350931" cy="1334539"/>
            <a:chOff x="4406902" y="5529735"/>
            <a:chExt cx="5161013" cy="1213314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A458D130-6BB6-D24C-9399-7EDC46464318}"/>
                </a:ext>
              </a:extLst>
            </p:cNvPr>
            <p:cNvSpPr/>
            <p:nvPr/>
          </p:nvSpPr>
          <p:spPr>
            <a:xfrm>
              <a:off x="4406902" y="5529735"/>
              <a:ext cx="5087664" cy="1213314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19000"/>
              </a:schemeClr>
            </a:solidFill>
            <a:ln w="12700" cap="rnd">
              <a:solidFill>
                <a:schemeClr val="accent2">
                  <a:lumMod val="60000"/>
                  <a:lumOff val="40000"/>
                  <a:alpha val="90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/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DB650568-86BE-D049-8A40-D06897177AB7}"/>
                </a:ext>
              </a:extLst>
            </p:cNvPr>
            <p:cNvSpPr txBox="1"/>
            <p:nvPr/>
          </p:nvSpPr>
          <p:spPr>
            <a:xfrm>
              <a:off x="4913123" y="5573884"/>
              <a:ext cx="1745048" cy="335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dirty="0"/>
                <a:t>IMPORTANTE</a:t>
              </a:r>
            </a:p>
          </p:txBody>
        </p: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AB6912F8-9885-1040-8AFE-66E43C770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623493" y="5595770"/>
              <a:ext cx="301429" cy="272101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4B0F901C-EC30-364E-ADDF-100AA5724102}"/>
                </a:ext>
              </a:extLst>
            </p:cNvPr>
            <p:cNvSpPr txBox="1"/>
            <p:nvPr/>
          </p:nvSpPr>
          <p:spPr>
            <a:xfrm>
              <a:off x="4588238" y="5941117"/>
              <a:ext cx="4979677" cy="671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400" dirty="0"/>
                <a:t>Los datos y capturas de pantalla de la aplicación “</a:t>
              </a:r>
              <a:r>
                <a:rPr lang="es-ES_tradnl" sz="1400" dirty="0" err="1"/>
                <a:t>Outbound</a:t>
              </a:r>
              <a:r>
                <a:rPr lang="es-ES_tradnl" sz="1400" dirty="0"/>
                <a:t>” mostrados en este manual son orientativos y pueden no coincidir con los valores y aspecto definitivos.</a:t>
              </a: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40D29CF5-1324-EC4B-A539-696983CAB965}"/>
              </a:ext>
            </a:extLst>
          </p:cNvPr>
          <p:cNvGrpSpPr/>
          <p:nvPr/>
        </p:nvGrpSpPr>
        <p:grpSpPr>
          <a:xfrm>
            <a:off x="6002869" y="2738965"/>
            <a:ext cx="5274883" cy="1698129"/>
            <a:chOff x="4406902" y="5542949"/>
            <a:chExt cx="5087664" cy="1325247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B863F7CA-9E7B-4643-937C-A6C80CDD273E}"/>
                </a:ext>
              </a:extLst>
            </p:cNvPr>
            <p:cNvSpPr/>
            <p:nvPr/>
          </p:nvSpPr>
          <p:spPr>
            <a:xfrm>
              <a:off x="4406902" y="5542949"/>
              <a:ext cx="5087664" cy="1325247"/>
            </a:xfrm>
            <a:prstGeom prst="rect">
              <a:avLst/>
            </a:prstGeom>
            <a:solidFill>
              <a:schemeClr val="bg1">
                <a:lumMod val="95000"/>
                <a:alpha val="19000"/>
              </a:schemeClr>
            </a:solidFill>
            <a:ln w="12700" cap="rnd">
              <a:solidFill>
                <a:schemeClr val="bg1">
                  <a:lumMod val="75000"/>
                  <a:alpha val="90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49A983B1-A219-E540-A7F0-CD6AA83D2CA9}"/>
                </a:ext>
              </a:extLst>
            </p:cNvPr>
            <p:cNvSpPr txBox="1"/>
            <p:nvPr/>
          </p:nvSpPr>
          <p:spPr>
            <a:xfrm>
              <a:off x="4571906" y="5585511"/>
              <a:ext cx="2956230" cy="264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600" dirty="0"/>
                <a:t>Historial de versiones</a:t>
              </a:r>
            </a:p>
          </p:txBody>
        </p:sp>
      </p:grp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70D0C9A7-642F-C74F-A566-E8A504631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709645"/>
              </p:ext>
            </p:extLst>
          </p:nvPr>
        </p:nvGraphicFramePr>
        <p:xfrm>
          <a:off x="6189492" y="3198363"/>
          <a:ext cx="4901691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3897">
                  <a:extLst>
                    <a:ext uri="{9D8B030D-6E8A-4147-A177-3AD203B41FA5}">
                      <a16:colId xmlns:a16="http://schemas.microsoft.com/office/drawing/2014/main" val="4209450082"/>
                    </a:ext>
                  </a:extLst>
                </a:gridCol>
                <a:gridCol w="922678">
                  <a:extLst>
                    <a:ext uri="{9D8B030D-6E8A-4147-A177-3AD203B41FA5}">
                      <a16:colId xmlns:a16="http://schemas.microsoft.com/office/drawing/2014/main" val="3000708182"/>
                    </a:ext>
                  </a:extLst>
                </a:gridCol>
                <a:gridCol w="2345116">
                  <a:extLst>
                    <a:ext uri="{9D8B030D-6E8A-4147-A177-3AD203B41FA5}">
                      <a16:colId xmlns:a16="http://schemas.microsoft.com/office/drawing/2014/main" val="3011945212"/>
                    </a:ext>
                  </a:extLst>
                </a:gridCol>
              </a:tblGrid>
              <a:tr h="261917">
                <a:tc>
                  <a:txBody>
                    <a:bodyPr/>
                    <a:lstStyle/>
                    <a:p>
                      <a:r>
                        <a:rPr lang="es-ES_tradnl" sz="1200" b="1" dirty="0"/>
                        <a:t>Fecha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b="1" dirty="0"/>
                        <a:t>Versión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b="1" dirty="0"/>
                        <a:t>Autor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447681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r>
                        <a:rPr lang="es-ES_tradnl" sz="1200" dirty="0"/>
                        <a:t>7 de marzo de 2022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dirty="0"/>
                        <a:t>Marc Pla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845942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endParaRPr lang="es-ES_tradnl" sz="12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ES_tradnl" sz="12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ES_tradnl" sz="12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1606185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endParaRPr lang="es-ES_tradnl" sz="12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ES_tradnl" sz="12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ES_tradnl" sz="12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9437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7555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App Outbound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A937C9E-0CA5-EC4E-87EA-BAD903B42911}"/>
              </a:ext>
            </a:extLst>
          </p:cNvPr>
          <p:cNvSpPr txBox="1"/>
          <p:nvPr/>
        </p:nvSpPr>
        <p:spPr>
          <a:xfrm>
            <a:off x="4491257" y="1200108"/>
            <a:ext cx="659130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Permite la gestión de la validación de grabaciones de llamadas comerciales salientes.</a:t>
            </a:r>
          </a:p>
          <a:p>
            <a:endParaRPr lang="es-ES_tradn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Está disponible como una aplicación dedicada dentro de la nube </a:t>
            </a:r>
            <a:r>
              <a:rPr lang="es-ES_tradnl" sz="2000" dirty="0" err="1"/>
              <a:t>Salesforce</a:t>
            </a:r>
            <a:r>
              <a:rPr lang="es-ES_tradnl" sz="2000" dirty="0"/>
              <a:t> de </a:t>
            </a:r>
            <a:r>
              <a:rPr lang="es-ES_tradnl" sz="2000" dirty="0" err="1"/>
              <a:t>CaixaBank</a:t>
            </a:r>
            <a:r>
              <a:rPr lang="es-ES_tradnl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La aplicación se abrirá automáticamente para agentes y responsables de </a:t>
            </a:r>
            <a:r>
              <a:rPr lang="es-ES_tradnl" sz="2000" dirty="0" err="1"/>
              <a:t>Outbound</a:t>
            </a:r>
            <a:r>
              <a:rPr lang="es-ES_tradnl" sz="2000" dirty="0"/>
              <a:t> al identificarse en la nube de </a:t>
            </a:r>
            <a:r>
              <a:rPr lang="es-ES_tradnl" sz="2000" dirty="0" err="1"/>
              <a:t>Salesforce</a:t>
            </a:r>
            <a:r>
              <a:rPr lang="es-ES_tradnl" sz="2000" dirty="0"/>
              <a:t> de </a:t>
            </a:r>
            <a:r>
              <a:rPr lang="es-ES_tradnl" sz="2000" dirty="0" err="1"/>
              <a:t>CaixaBank</a:t>
            </a:r>
            <a:r>
              <a:rPr lang="es-ES_tradnl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El acceso a la nube </a:t>
            </a:r>
            <a:r>
              <a:rPr lang="es-ES_tradnl" sz="2000" dirty="0" err="1"/>
              <a:t>Salesforce</a:t>
            </a:r>
            <a:r>
              <a:rPr lang="es-ES_tradnl" sz="2000" dirty="0"/>
              <a:t> de </a:t>
            </a:r>
            <a:r>
              <a:rPr lang="es-ES_tradnl" sz="2000" dirty="0" err="1"/>
              <a:t>CaixaBank</a:t>
            </a:r>
            <a:r>
              <a:rPr lang="es-ES_tradnl" sz="2000" dirty="0"/>
              <a:t> requiere haber dado de alta el usuario en </a:t>
            </a:r>
            <a:r>
              <a:rPr lang="es-ES_tradnl" sz="2000" dirty="0" err="1"/>
              <a:t>Salesforce</a:t>
            </a:r>
            <a:r>
              <a:rPr lang="es-ES_tradnl" sz="2000" dirty="0"/>
              <a:t>.</a:t>
            </a:r>
          </a:p>
          <a:p>
            <a:endParaRPr lang="es-ES_tradnl"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BFB434F-5A06-FC46-97D3-BA3100116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47" y="1736844"/>
            <a:ext cx="3403600" cy="240142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48F258B-E756-0842-879F-CD569830EBA5}"/>
              </a:ext>
            </a:extLst>
          </p:cNvPr>
          <p:cNvSpPr txBox="1"/>
          <p:nvPr/>
        </p:nvSpPr>
        <p:spPr>
          <a:xfrm>
            <a:off x="2050472" y="5390493"/>
            <a:ext cx="788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3600" b="1">
                <a:hlinkClick r:id="rId4"/>
              </a:rPr>
              <a:t>https://caixabankcc.my.salesforce.com</a:t>
            </a:r>
            <a:endParaRPr lang="es-ES_tradnl" sz="3600" b="1"/>
          </a:p>
        </p:txBody>
      </p:sp>
    </p:spTree>
    <p:extLst>
      <p:ext uri="{BB962C8B-B14F-4D97-AF65-F5344CB8AC3E}">
        <p14:creationId xmlns:p14="http://schemas.microsoft.com/office/powerpoint/2010/main" val="1461450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25"/>
            <a:ext cx="10515600" cy="1325563"/>
          </a:xfrm>
        </p:spPr>
        <p:txBody>
          <a:bodyPr/>
          <a:lstStyle/>
          <a:p>
            <a:r>
              <a:rPr lang="es-ES_tradnl"/>
              <a:t>Objeto “Parametrización”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A937C9E-0CA5-EC4E-87EA-BAD903B42911}"/>
              </a:ext>
            </a:extLst>
          </p:cNvPr>
          <p:cNvSpPr txBox="1"/>
          <p:nvPr/>
        </p:nvSpPr>
        <p:spPr>
          <a:xfrm>
            <a:off x="5920433" y="3129300"/>
            <a:ext cx="543336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Objeto no estándar que agrupa los distintos tipos de parametrización necesarios para poder realizar la gestión de </a:t>
            </a:r>
            <a:r>
              <a:rPr lang="es-ES_tradnl" sz="2000" dirty="0" err="1"/>
              <a:t>Outbound</a:t>
            </a:r>
            <a:r>
              <a:rPr lang="es-ES_tradnl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Visible exclusivamente para usuarios con perfil “Responsable”.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No visible para usuarios con perfil “Validador”.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sz="2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2F91ACF-8A45-8F47-9036-4564EE5AD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479415"/>
            <a:ext cx="4345100" cy="371290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34112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25"/>
            <a:ext cx="10515600" cy="1325563"/>
          </a:xfrm>
        </p:spPr>
        <p:txBody>
          <a:bodyPr/>
          <a:lstStyle/>
          <a:p>
            <a:r>
              <a:rPr lang="es-ES_tradnl"/>
              <a:t>Listados por tipo de parametrización (1)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A937C9E-0CA5-EC4E-87EA-BAD903B42911}"/>
              </a:ext>
            </a:extLst>
          </p:cNvPr>
          <p:cNvSpPr txBox="1"/>
          <p:nvPr/>
        </p:nvSpPr>
        <p:spPr>
          <a:xfrm>
            <a:off x="5013789" y="1409998"/>
            <a:ext cx="6565186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De manera estándar el responsable dispondrá de un listado que le permitirá visualizar los registros de cada tipo de parametrización:</a:t>
            </a:r>
          </a:p>
          <a:p>
            <a:endParaRPr lang="es-ES_tradnl" sz="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Plataformas</a:t>
            </a:r>
          </a:p>
          <a:p>
            <a:pPr lvl="1"/>
            <a:endParaRPr lang="es-ES_tradnl" sz="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Familias de producto</a:t>
            </a:r>
          </a:p>
          <a:p>
            <a:pPr lvl="1"/>
            <a:endParaRPr lang="es-ES_tradnl" sz="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Productos</a:t>
            </a:r>
          </a:p>
          <a:p>
            <a:pPr lvl="1"/>
            <a:endParaRPr lang="es-ES_tradnl" sz="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Campañas</a:t>
            </a:r>
          </a:p>
          <a:p>
            <a:pPr lvl="1"/>
            <a:endParaRPr lang="es-ES_tradnl" sz="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Relaciones Campaña – Producto</a:t>
            </a:r>
          </a:p>
          <a:p>
            <a:pPr lvl="1"/>
            <a:endParaRPr lang="es-ES_tradnl" sz="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Resultados de cierre</a:t>
            </a:r>
          </a:p>
          <a:p>
            <a:pPr lvl="1"/>
            <a:endParaRPr lang="es-ES_tradnl" sz="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Agrupadores de plantillas</a:t>
            </a:r>
          </a:p>
          <a:p>
            <a:pPr lvl="1"/>
            <a:endParaRPr lang="es-ES_tradnl" sz="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Plantillas por tipo e idioma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9D46F3-9FAF-C44E-A0E7-115EFF8C4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521" y="1409998"/>
            <a:ext cx="3844967" cy="45504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88622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68883"/>
            <a:ext cx="11760200" cy="1325563"/>
          </a:xfrm>
        </p:spPr>
        <p:txBody>
          <a:bodyPr/>
          <a:lstStyle/>
          <a:p>
            <a:r>
              <a:rPr lang="es-ES_tradnl"/>
              <a:t>Listados por tipo de parametrización (2)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BDB9448-0AB1-2E45-8CC4-BC4D60B09D5D}"/>
              </a:ext>
            </a:extLst>
          </p:cNvPr>
          <p:cNvSpPr txBox="1"/>
          <p:nvPr/>
        </p:nvSpPr>
        <p:spPr>
          <a:xfrm>
            <a:off x="660400" y="1097927"/>
            <a:ext cx="1069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/>
              <a:t>Una vez seleccionado un listado se mostrarán los registros existentes del tipo de parametrización correspondiente.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73C5CC4-D537-7940-8432-D9B84F1E6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1952783"/>
            <a:ext cx="10955867" cy="243083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A26186BA-C178-5747-81D1-B9331D998FAA}"/>
              </a:ext>
            </a:extLst>
          </p:cNvPr>
          <p:cNvSpPr txBox="1"/>
          <p:nvPr/>
        </p:nvSpPr>
        <p:spPr>
          <a:xfrm>
            <a:off x="660400" y="4588010"/>
            <a:ext cx="10693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/>
              <a:t>Las columnas del listado son distintas para cada listado de manera que se visualice la información más relevante para cada uno de ellos.</a:t>
            </a:r>
          </a:p>
          <a:p>
            <a:endParaRPr lang="es-ES_tradnl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/>
              <a:t>Para ver el detalle de un registro concreto se debe pulsar sobre su nombre.</a:t>
            </a:r>
          </a:p>
        </p:txBody>
      </p:sp>
    </p:spTree>
    <p:extLst>
      <p:ext uri="{BB962C8B-B14F-4D97-AF65-F5344CB8AC3E}">
        <p14:creationId xmlns:p14="http://schemas.microsoft.com/office/powerpoint/2010/main" val="3257122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68883"/>
            <a:ext cx="11760200" cy="1325563"/>
          </a:xfrm>
        </p:spPr>
        <p:txBody>
          <a:bodyPr/>
          <a:lstStyle/>
          <a:p>
            <a:r>
              <a:rPr lang="es-ES_tradnl" dirty="0"/>
              <a:t>Parametrización: Plataformas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BDB9448-0AB1-2E45-8CC4-BC4D60B09D5D}"/>
              </a:ext>
            </a:extLst>
          </p:cNvPr>
          <p:cNvSpPr txBox="1"/>
          <p:nvPr/>
        </p:nvSpPr>
        <p:spPr>
          <a:xfrm>
            <a:off x="660400" y="994336"/>
            <a:ext cx="1069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dirty="0"/>
              <a:t>Representan proveedores de </a:t>
            </a:r>
            <a:r>
              <a:rPr lang="es-ES_tradnl" sz="2000" dirty="0" err="1"/>
              <a:t>CaixaBank</a:t>
            </a:r>
            <a:r>
              <a:rPr lang="es-ES_tradnl" sz="2000" dirty="0"/>
              <a:t>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26186BA-C178-5747-81D1-B9331D998FAA}"/>
              </a:ext>
            </a:extLst>
          </p:cNvPr>
          <p:cNvSpPr txBox="1"/>
          <p:nvPr/>
        </p:nvSpPr>
        <p:spPr>
          <a:xfrm>
            <a:off x="660400" y="4788064"/>
            <a:ext cx="10693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Centro gestor</a:t>
            </a:r>
            <a:r>
              <a:rPr lang="es-ES_tradnl" sz="2000" dirty="0"/>
              <a:t>: Número de centro </a:t>
            </a:r>
            <a:r>
              <a:rPr lang="es-ES_tradnl" sz="2000" dirty="0" err="1"/>
              <a:t>CaixaBank</a:t>
            </a:r>
            <a:r>
              <a:rPr lang="es-ES_tradnl" sz="2000" dirty="0"/>
              <a:t> del proveedor.</a:t>
            </a:r>
          </a:p>
          <a:p>
            <a:endParaRPr lang="es-ES_trad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Usuario gestor</a:t>
            </a:r>
            <a:r>
              <a:rPr lang="es-ES_tradnl" sz="2000" dirty="0"/>
              <a:t>: Matrícula </a:t>
            </a:r>
            <a:r>
              <a:rPr lang="es-ES_tradnl" sz="2000" dirty="0" err="1"/>
              <a:t>CaixaBank</a:t>
            </a:r>
            <a:r>
              <a:rPr lang="es-ES_tradnl" sz="2000" dirty="0"/>
              <a:t> del responsable del proveedor.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23EF888-0BFD-114B-AC2A-D1620BF69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" y="1468971"/>
            <a:ext cx="10481733" cy="275439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86662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-131172"/>
            <a:ext cx="11760200" cy="1325563"/>
          </a:xfrm>
        </p:spPr>
        <p:txBody>
          <a:bodyPr/>
          <a:lstStyle/>
          <a:p>
            <a:r>
              <a:rPr lang="es-ES_tradnl" dirty="0"/>
              <a:t>Parametrización: Familias de producto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BDB9448-0AB1-2E45-8CC4-BC4D60B09D5D}"/>
              </a:ext>
            </a:extLst>
          </p:cNvPr>
          <p:cNvSpPr txBox="1"/>
          <p:nvPr/>
        </p:nvSpPr>
        <p:spPr>
          <a:xfrm>
            <a:off x="660400" y="794281"/>
            <a:ext cx="1069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/>
              <a:t>Representan las distintas familias que se usan para agrupar productos del mismo tipo.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26186BA-C178-5747-81D1-B9331D998FAA}"/>
              </a:ext>
            </a:extLst>
          </p:cNvPr>
          <p:cNvSpPr txBox="1"/>
          <p:nvPr/>
        </p:nvSpPr>
        <p:spPr>
          <a:xfrm>
            <a:off x="567267" y="4550997"/>
            <a:ext cx="1069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Requiere PAN:</a:t>
            </a:r>
            <a:r>
              <a:rPr lang="es-ES_tradnl" sz="2000" dirty="0"/>
              <a:t> Indica si la gestión requiere PAN. Es un campo informativo que no implica ninguna acción ni comportamiento específicos en </a:t>
            </a:r>
            <a:r>
              <a:rPr lang="es-ES_tradnl" sz="2000" dirty="0" err="1"/>
              <a:t>Salesforce</a:t>
            </a:r>
            <a:r>
              <a:rPr lang="es-ES_tradnl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Formato del código de contrato: </a:t>
            </a:r>
            <a:r>
              <a:rPr lang="es-ES_tradnl" sz="2000" dirty="0"/>
              <a:t>Formato del código de contrato usado para este producto, debe coincidir con el código de contrato que </a:t>
            </a:r>
            <a:r>
              <a:rPr lang="es-ES_tradnl" sz="2000" dirty="0" err="1"/>
              <a:t>Salesforce</a:t>
            </a:r>
            <a:r>
              <a:rPr lang="es-ES_tradnl" sz="2000" dirty="0"/>
              <a:t> recibe en la petición de cierre de llamada.</a:t>
            </a:r>
            <a:endParaRPr lang="es-ES_tradnl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Envío a GDD: </a:t>
            </a:r>
            <a:r>
              <a:rPr lang="es-ES_tradnl" sz="2000" dirty="0"/>
              <a:t>Indica si las grabaciones para esta familia de producto se pueden enviar a GDD. El envío usará las opciones indicadas en </a:t>
            </a:r>
            <a:r>
              <a:rPr lang="es-ES_tradnl" sz="2000" b="1" dirty="0"/>
              <a:t>Código GDD</a:t>
            </a:r>
            <a:r>
              <a:rPr lang="es-ES_tradnl" sz="2000" dirty="0"/>
              <a:t>, </a:t>
            </a:r>
            <a:r>
              <a:rPr lang="es-ES_tradnl" sz="2000" b="1" dirty="0"/>
              <a:t>Área ALF</a:t>
            </a:r>
            <a:r>
              <a:rPr lang="es-ES_tradnl" sz="2000" dirty="0"/>
              <a:t> y </a:t>
            </a:r>
            <a:r>
              <a:rPr lang="es-ES_tradnl" sz="2000" b="1" dirty="0"/>
              <a:t>Acción Alta</a:t>
            </a:r>
            <a:r>
              <a:rPr lang="es-ES_tradnl" sz="2000" dirty="0"/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5F7F206-0F4F-984C-811B-A730D50AE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50" y="1261827"/>
            <a:ext cx="7569454" cy="279340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98A367DB-94C9-B74C-BB2D-E8C63BF0093A}"/>
              </a:ext>
            </a:extLst>
          </p:cNvPr>
          <p:cNvGrpSpPr/>
          <p:nvPr/>
        </p:nvGrpSpPr>
        <p:grpSpPr>
          <a:xfrm>
            <a:off x="8357833" y="1550844"/>
            <a:ext cx="3097567" cy="2504391"/>
            <a:chOff x="4487711" y="5543092"/>
            <a:chExt cx="2987627" cy="2276899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4B24E512-ED1F-E24D-B4BC-62E4E20D9B31}"/>
                </a:ext>
              </a:extLst>
            </p:cNvPr>
            <p:cNvSpPr/>
            <p:nvPr/>
          </p:nvSpPr>
          <p:spPr>
            <a:xfrm>
              <a:off x="4487711" y="5543092"/>
              <a:ext cx="2987627" cy="2276899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19000"/>
              </a:schemeClr>
            </a:solidFill>
            <a:ln w="12700" cap="rnd">
              <a:solidFill>
                <a:schemeClr val="accent2">
                  <a:lumMod val="60000"/>
                  <a:lumOff val="40000"/>
                  <a:alpha val="90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4F425BAB-F57E-9247-852E-13DC36495E73}"/>
                </a:ext>
              </a:extLst>
            </p:cNvPr>
            <p:cNvSpPr txBox="1"/>
            <p:nvPr/>
          </p:nvSpPr>
          <p:spPr>
            <a:xfrm>
              <a:off x="4937622" y="5566186"/>
              <a:ext cx="1745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000"/>
                <a:t>IMPORTANTE</a:t>
              </a: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AC12BFDA-336D-0440-8B02-3C9E0E7F1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623493" y="5618863"/>
              <a:ext cx="301429" cy="272101"/>
            </a:xfrm>
            <a:prstGeom prst="rect">
              <a:avLst/>
            </a:prstGeom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B2DF272D-03E1-C346-8ABB-6673B2E1653E}"/>
                </a:ext>
              </a:extLst>
            </p:cNvPr>
            <p:cNvSpPr txBox="1"/>
            <p:nvPr/>
          </p:nvSpPr>
          <p:spPr>
            <a:xfrm>
              <a:off x="4616847" y="5880745"/>
              <a:ext cx="2729353" cy="1874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600" dirty="0"/>
                <a:t>La marca “Envío a GDD” a nivel de familia de producto únicamente habilita la marca “Envío a GDD” a nivel de </a:t>
              </a:r>
              <a:r>
                <a:rPr lang="es-ES_tradnl" sz="1600" dirty="0">
                  <a:hlinkClick r:id="rId7" action="ppaction://hlinksldjump"/>
                </a:rPr>
                <a:t>Relación Campaña – Producto</a:t>
              </a:r>
              <a:r>
                <a:rPr lang="es-ES_tradnl" sz="1600" dirty="0"/>
                <a:t>, que es la que realmente determina si se envían o no las grabaciones.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6972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68883"/>
            <a:ext cx="11760200" cy="1325563"/>
          </a:xfrm>
        </p:spPr>
        <p:txBody>
          <a:bodyPr/>
          <a:lstStyle/>
          <a:p>
            <a:r>
              <a:rPr lang="es-ES_tradnl" dirty="0"/>
              <a:t>Parametrización: Productos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BDB9448-0AB1-2E45-8CC4-BC4D60B09D5D}"/>
              </a:ext>
            </a:extLst>
          </p:cNvPr>
          <p:cNvSpPr txBox="1"/>
          <p:nvPr/>
        </p:nvSpPr>
        <p:spPr>
          <a:xfrm>
            <a:off x="660400" y="994336"/>
            <a:ext cx="1069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/>
              <a:t>Representan los distintos productos que pueden negociarse en una llamada </a:t>
            </a:r>
            <a:r>
              <a:rPr lang="es-ES_tradnl" sz="2000" err="1"/>
              <a:t>Outbound</a:t>
            </a:r>
            <a:r>
              <a:rPr lang="es-ES_tradnl" sz="2000"/>
              <a:t>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26186BA-C178-5747-81D1-B9331D998FAA}"/>
              </a:ext>
            </a:extLst>
          </p:cNvPr>
          <p:cNvSpPr txBox="1"/>
          <p:nvPr/>
        </p:nvSpPr>
        <p:spPr>
          <a:xfrm>
            <a:off x="660400" y="4788064"/>
            <a:ext cx="10693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Parametrización padre</a:t>
            </a:r>
            <a:r>
              <a:rPr lang="es-ES_tradnl" sz="2000" dirty="0"/>
              <a:t>: Familia de producto a la que pertenece el producto.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_trad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Código externo</a:t>
            </a:r>
            <a:r>
              <a:rPr lang="es-ES_tradnl" sz="2000" dirty="0"/>
              <a:t>: Código que identifica el producto y que debe coincidir con el que </a:t>
            </a:r>
            <a:r>
              <a:rPr lang="es-ES_tradnl" sz="2000" dirty="0" err="1"/>
              <a:t>Salesforce</a:t>
            </a:r>
            <a:r>
              <a:rPr lang="es-ES_tradnl" sz="2000" dirty="0"/>
              <a:t> recibe en la petición de registro de llamada.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316009-2684-0B45-B1C7-0C5991768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" y="1546846"/>
            <a:ext cx="10007992" cy="272035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93788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68883"/>
            <a:ext cx="11760200" cy="1325563"/>
          </a:xfrm>
        </p:spPr>
        <p:txBody>
          <a:bodyPr/>
          <a:lstStyle/>
          <a:p>
            <a:r>
              <a:rPr lang="es-ES_tradnl" dirty="0"/>
              <a:t>Parametrización: Campañas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BDB9448-0AB1-2E45-8CC4-BC4D60B09D5D}"/>
              </a:ext>
            </a:extLst>
          </p:cNvPr>
          <p:cNvSpPr txBox="1"/>
          <p:nvPr/>
        </p:nvSpPr>
        <p:spPr>
          <a:xfrm>
            <a:off x="660400" y="994336"/>
            <a:ext cx="1069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dirty="0"/>
              <a:t>Representan campañas comerciales a las que pertenecen las llamadas </a:t>
            </a:r>
            <a:r>
              <a:rPr lang="es-ES_tradnl" sz="2000" dirty="0" err="1"/>
              <a:t>Outbound</a:t>
            </a:r>
            <a:r>
              <a:rPr lang="es-ES_tradnl" sz="2000" dirty="0"/>
              <a:t>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26186BA-C178-5747-81D1-B9331D998FAA}"/>
              </a:ext>
            </a:extLst>
          </p:cNvPr>
          <p:cNvSpPr txBox="1"/>
          <p:nvPr/>
        </p:nvSpPr>
        <p:spPr>
          <a:xfrm>
            <a:off x="594412" y="4068875"/>
            <a:ext cx="1069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Código externo</a:t>
            </a:r>
            <a:r>
              <a:rPr lang="es-ES_tradnl" sz="2000" dirty="0"/>
              <a:t>: Código que identifica la campaña y que debe coincidir con el que </a:t>
            </a:r>
            <a:r>
              <a:rPr lang="es-ES_tradnl" sz="2000" dirty="0" err="1"/>
              <a:t>Salesforce</a:t>
            </a:r>
            <a:r>
              <a:rPr lang="es-ES_tradnl" sz="2000" dirty="0"/>
              <a:t> recibe en la petición de registro de llamada.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_trad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 err="1"/>
              <a:t>Multi</a:t>
            </a:r>
            <a:r>
              <a:rPr lang="es-ES_tradnl" sz="2000" b="1" dirty="0"/>
              <a:t>-mes</a:t>
            </a:r>
            <a:r>
              <a:rPr lang="es-ES_tradnl" sz="2000" dirty="0"/>
              <a:t>: Si la campaña se marca como ”</a:t>
            </a:r>
            <a:r>
              <a:rPr lang="es-ES_tradnl" sz="2000" dirty="0" err="1"/>
              <a:t>Multi</a:t>
            </a:r>
            <a:r>
              <a:rPr lang="es-ES_tradnl" sz="2000" dirty="0"/>
              <a:t>-mes”, solo los 3 primeros caracteres del código externo deberán coincidir con el código que </a:t>
            </a:r>
            <a:r>
              <a:rPr lang="es-ES_tradnl" sz="2000" dirty="0" err="1"/>
              <a:t>Salesforce</a:t>
            </a:r>
            <a:r>
              <a:rPr lang="es-ES_tradnl" sz="2000" dirty="0"/>
              <a:t> recibe en la petición de registro de llamada.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330285B-DB2B-0F41-97BA-64E7F4E98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1526421"/>
            <a:ext cx="10124388" cy="227431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81490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133" y="68883"/>
            <a:ext cx="11760200" cy="1325563"/>
          </a:xfrm>
        </p:spPr>
        <p:txBody>
          <a:bodyPr>
            <a:normAutofit/>
          </a:bodyPr>
          <a:lstStyle/>
          <a:p>
            <a:r>
              <a:rPr lang="es-ES_tradnl" sz="4000" dirty="0"/>
              <a:t>Parametrización: Relaciones Campaña - Producto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BDB9448-0AB1-2E45-8CC4-BC4D60B09D5D}"/>
              </a:ext>
            </a:extLst>
          </p:cNvPr>
          <p:cNvSpPr txBox="1"/>
          <p:nvPr/>
        </p:nvSpPr>
        <p:spPr>
          <a:xfrm>
            <a:off x="660399" y="994336"/>
            <a:ext cx="11000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Indican cómo se gestiona una llamada de un producto concreto realizada en el marco de una campaña concreta.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26186BA-C178-5747-81D1-B9331D998FAA}"/>
              </a:ext>
            </a:extLst>
          </p:cNvPr>
          <p:cNvSpPr txBox="1"/>
          <p:nvPr/>
        </p:nvSpPr>
        <p:spPr>
          <a:xfrm>
            <a:off x="558800" y="3966401"/>
            <a:ext cx="108542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Parametrización padre: </a:t>
            </a:r>
            <a:r>
              <a:rPr lang="es-ES_tradnl" sz="2000" dirty="0"/>
              <a:t>Campaña para la que se definen las opciones de gestión.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Parametrización hija: </a:t>
            </a:r>
            <a:r>
              <a:rPr lang="es-ES_tradnl" sz="2000" dirty="0"/>
              <a:t>Producto para el que se definen las opciones de gestión.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Tipo de validación: </a:t>
            </a:r>
            <a:r>
              <a:rPr lang="es-ES_tradnl" sz="2000" dirty="0"/>
              <a:t>En caso de indicarse “Back Office” la llamada quedará en estado “Pendiente de validación” antes de cerrarse, hasta que un usuario de la aplicación </a:t>
            </a:r>
            <a:r>
              <a:rPr lang="es-ES_tradnl" sz="2000" dirty="0" err="1"/>
              <a:t>Outbound</a:t>
            </a:r>
            <a:r>
              <a:rPr lang="es-ES_tradnl" sz="2000" dirty="0"/>
              <a:t> la valide o la rechace.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Envío a GDD: </a:t>
            </a:r>
            <a:r>
              <a:rPr lang="es-ES_tradnl" sz="2000" dirty="0"/>
              <a:t>Si se marca las grabaciones se enviarán a GDD (solo se puede marcar si la </a:t>
            </a:r>
            <a:r>
              <a:rPr lang="es-ES_tradnl" sz="2000" dirty="0">
                <a:hlinkClick r:id="rId4" action="ppaction://hlinksldjump"/>
              </a:rPr>
              <a:t>familia</a:t>
            </a:r>
            <a:r>
              <a:rPr lang="es-ES_tradnl" sz="2000" dirty="0"/>
              <a:t> del producto indicado permite el envío a GDD).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Agrupador de plantillas: </a:t>
            </a:r>
            <a:r>
              <a:rPr lang="es-ES_tradnl" sz="2000" dirty="0">
                <a:hlinkClick r:id="rId5" action="ppaction://hlinksldjump"/>
              </a:rPr>
              <a:t>Agrupador de plantillas </a:t>
            </a:r>
            <a:r>
              <a:rPr lang="es-ES_tradnl" sz="2000" dirty="0"/>
              <a:t>que se usará al enviar correos o SMS automáticos.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F06D77-DC2D-8941-B604-7C87ED0ACDC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041"/>
          <a:stretch/>
        </p:blipFill>
        <p:spPr>
          <a:xfrm>
            <a:off x="660399" y="1394446"/>
            <a:ext cx="10089823" cy="239013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91168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68883"/>
            <a:ext cx="11760200" cy="1325563"/>
          </a:xfrm>
        </p:spPr>
        <p:txBody>
          <a:bodyPr/>
          <a:lstStyle/>
          <a:p>
            <a:r>
              <a:rPr lang="es-ES_tradnl" dirty="0"/>
              <a:t>Parametrización: Resultados de cierre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BDB9448-0AB1-2E45-8CC4-BC4D60B09D5D}"/>
              </a:ext>
            </a:extLst>
          </p:cNvPr>
          <p:cNvSpPr txBox="1"/>
          <p:nvPr/>
        </p:nvSpPr>
        <p:spPr>
          <a:xfrm>
            <a:off x="660400" y="1057050"/>
            <a:ext cx="1069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dirty="0"/>
              <a:t>Representa los posibles resultados de una llamada </a:t>
            </a:r>
            <a:r>
              <a:rPr lang="es-ES_tradnl" sz="2000" dirty="0" err="1"/>
              <a:t>Outbound</a:t>
            </a:r>
            <a:r>
              <a:rPr lang="es-ES_tradnl" sz="2000" dirty="0"/>
              <a:t>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26186BA-C178-5747-81D1-B9331D998FAA}"/>
              </a:ext>
            </a:extLst>
          </p:cNvPr>
          <p:cNvSpPr txBox="1"/>
          <p:nvPr/>
        </p:nvSpPr>
        <p:spPr>
          <a:xfrm>
            <a:off x="554566" y="4364731"/>
            <a:ext cx="110828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Tipo de cierre</a:t>
            </a:r>
            <a:r>
              <a:rPr lang="es-ES_tradnl" sz="2000" dirty="0"/>
              <a:t>: Determina el siguiente estado del registro de llamada al finalizarla.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_tradnl" sz="2000" i="1" dirty="0"/>
              <a:t>POSITIVO</a:t>
            </a:r>
            <a:r>
              <a:rPr lang="es-ES_tradnl" sz="2000" dirty="0"/>
              <a:t>: El registro de llamada quedará en estado “Pendiente de grabación”.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_tradnl" sz="2000" i="1" dirty="0"/>
              <a:t>NEGATIVO</a:t>
            </a:r>
            <a:r>
              <a:rPr lang="es-ES_tradnl" sz="2000" dirty="0"/>
              <a:t>: El registro de llamada quedará en estado “Rechazada” y su gestión quedará finalizada.</a:t>
            </a:r>
          </a:p>
          <a:p>
            <a:pPr lvl="1"/>
            <a:endParaRPr lang="es-ES_trad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Tipo de contratación</a:t>
            </a:r>
            <a:r>
              <a:rPr lang="es-ES_tradnl" sz="2000" dirty="0"/>
              <a:t>: Campo no editable, su valor siempre será “Alta”.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61B7F9E-3EDB-7048-A775-3BB8412D7B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1596075"/>
            <a:ext cx="10375900" cy="240626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16735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68883"/>
            <a:ext cx="11760200" cy="1325563"/>
          </a:xfrm>
        </p:spPr>
        <p:txBody>
          <a:bodyPr/>
          <a:lstStyle/>
          <a:p>
            <a:r>
              <a:rPr lang="es-ES_tradnl" dirty="0"/>
              <a:t>Parametrización: Agrupadores de plantillas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BDB9448-0AB1-2E45-8CC4-BC4D60B09D5D}"/>
              </a:ext>
            </a:extLst>
          </p:cNvPr>
          <p:cNvSpPr txBox="1"/>
          <p:nvPr/>
        </p:nvSpPr>
        <p:spPr>
          <a:xfrm>
            <a:off x="660400" y="994336"/>
            <a:ext cx="1069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dirty="0"/>
              <a:t>Representa la configuración de plantillas que se usará un registro de </a:t>
            </a:r>
            <a:r>
              <a:rPr lang="es-ES_tradnl" sz="2000" dirty="0">
                <a:hlinkClick r:id="rId4" action="ppaction://hlinksldjump"/>
              </a:rPr>
              <a:t>Relación Campaña – Producto</a:t>
            </a:r>
            <a:r>
              <a:rPr lang="es-ES_tradnl" sz="2000" dirty="0"/>
              <a:t>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26186BA-C178-5747-81D1-B9331D998FAA}"/>
              </a:ext>
            </a:extLst>
          </p:cNvPr>
          <p:cNvSpPr txBox="1"/>
          <p:nvPr/>
        </p:nvSpPr>
        <p:spPr>
          <a:xfrm>
            <a:off x="584200" y="4542348"/>
            <a:ext cx="10693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Email</a:t>
            </a:r>
            <a:r>
              <a:rPr lang="es-ES_tradnl" sz="2000" dirty="0"/>
              <a:t>: Habilita el envío de correos electrónicos al usar este agrupador de plantillas.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Plantilla de correo por defecto</a:t>
            </a:r>
            <a:r>
              <a:rPr lang="es-ES_tradnl" sz="2000" dirty="0"/>
              <a:t>: Si no existe una </a:t>
            </a:r>
            <a:r>
              <a:rPr lang="es-ES_tradnl" sz="2000" dirty="0">
                <a:hlinkClick r:id="rId5" action="ppaction://hlinksldjump"/>
              </a:rPr>
              <a:t>Plantilla por tipo e idioma</a:t>
            </a:r>
            <a:r>
              <a:rPr lang="es-ES_tradnl" sz="2000" dirty="0"/>
              <a:t> de correo coincidente, el correo se enviará usando la </a:t>
            </a:r>
            <a:r>
              <a:rPr lang="es-ES_tradnl" sz="2000" dirty="0">
                <a:hlinkClick r:id="rId6" action="ppaction://hlinksldjump"/>
              </a:rPr>
              <a:t>plantilla de correo electrónico </a:t>
            </a:r>
            <a:r>
              <a:rPr lang="es-ES_tradnl" sz="2000" dirty="0" err="1">
                <a:hlinkClick r:id="rId6" action="ppaction://hlinksldjump"/>
              </a:rPr>
              <a:t>Salesforce</a:t>
            </a:r>
            <a:r>
              <a:rPr lang="es-ES_tradnl" sz="2000" dirty="0">
                <a:hlinkClick r:id="rId6" action="ppaction://hlinksldjump"/>
              </a:rPr>
              <a:t> </a:t>
            </a:r>
            <a:r>
              <a:rPr lang="es-ES_tradnl" sz="2000" dirty="0"/>
              <a:t>indicada en este campo.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SMS:</a:t>
            </a:r>
            <a:r>
              <a:rPr lang="es-ES_tradnl" sz="2000" dirty="0"/>
              <a:t> Habilita el envío de SMS al usar este agrupador de plantillas.</a:t>
            </a:r>
            <a:endParaRPr lang="es-ES_tradnl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Plantilla de SMS por defecto</a:t>
            </a:r>
            <a:r>
              <a:rPr lang="es-ES_tradnl" sz="2000" dirty="0"/>
              <a:t>: Si no existe una </a:t>
            </a:r>
            <a:r>
              <a:rPr lang="es-ES_tradnl" sz="2000" dirty="0">
                <a:hlinkClick r:id="rId5" action="ppaction://hlinksldjump"/>
              </a:rPr>
              <a:t>Plantilla por tipo e idioma</a:t>
            </a:r>
            <a:r>
              <a:rPr lang="es-ES_tradnl" sz="2000" dirty="0"/>
              <a:t> de SMS coincidente, el SMS se enviará usando la </a:t>
            </a:r>
            <a:r>
              <a:rPr lang="es-ES_tradnl" sz="2000" dirty="0">
                <a:hlinkClick r:id="rId6" action="ppaction://hlinksldjump"/>
              </a:rPr>
              <a:t>plantilla de correo electrónico </a:t>
            </a:r>
            <a:r>
              <a:rPr lang="es-ES_tradnl" sz="2000" dirty="0" err="1">
                <a:hlinkClick r:id="rId6" action="ppaction://hlinksldjump"/>
              </a:rPr>
              <a:t>Salesforce</a:t>
            </a:r>
            <a:r>
              <a:rPr lang="es-ES_tradnl" sz="2000" dirty="0"/>
              <a:t> indicada en este campo.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_tradnl"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916B81D-5325-1B4E-8807-DE7965F962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33" y="1462182"/>
            <a:ext cx="10541000" cy="291228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31439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68883"/>
            <a:ext cx="11760200" cy="1325563"/>
          </a:xfrm>
        </p:spPr>
        <p:txBody>
          <a:bodyPr/>
          <a:lstStyle/>
          <a:p>
            <a:r>
              <a:rPr lang="es-ES_tradnl" dirty="0"/>
              <a:t>Parametrización: Plantillas por tipo e idioma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BDB9448-0AB1-2E45-8CC4-BC4D60B09D5D}"/>
              </a:ext>
            </a:extLst>
          </p:cNvPr>
          <p:cNvSpPr txBox="1"/>
          <p:nvPr/>
        </p:nvSpPr>
        <p:spPr>
          <a:xfrm>
            <a:off x="660400" y="994336"/>
            <a:ext cx="1069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dirty="0"/>
              <a:t>Indica qué plantilla de correo o SMS usar para un agrupador de plantillas e idioma determinado.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26186BA-C178-5747-81D1-B9331D998FAA}"/>
              </a:ext>
            </a:extLst>
          </p:cNvPr>
          <p:cNvSpPr txBox="1"/>
          <p:nvPr/>
        </p:nvSpPr>
        <p:spPr>
          <a:xfrm>
            <a:off x="660400" y="4416593"/>
            <a:ext cx="10693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Nombre</a:t>
            </a:r>
            <a:r>
              <a:rPr lang="es-ES_tradnl" sz="2000" dirty="0"/>
              <a:t>: El nombre de la </a:t>
            </a:r>
            <a:r>
              <a:rPr lang="es-ES_tradnl" sz="2000" dirty="0">
                <a:hlinkClick r:id="rId4" action="ppaction://hlinksldjump"/>
              </a:rPr>
              <a:t>plantilla de correo electrónico </a:t>
            </a:r>
            <a:r>
              <a:rPr lang="es-ES_tradnl" sz="2000" dirty="0" err="1">
                <a:hlinkClick r:id="rId4" action="ppaction://hlinksldjump"/>
              </a:rPr>
              <a:t>Salesforce</a:t>
            </a:r>
            <a:r>
              <a:rPr lang="es-ES_tradnl" sz="2000" dirty="0">
                <a:hlinkClick r:id="rId4" action="ppaction://hlinksldjump"/>
              </a:rPr>
              <a:t> </a:t>
            </a:r>
            <a:r>
              <a:rPr lang="es-ES_tradnl" sz="2000" dirty="0"/>
              <a:t>que se usará al enviar la comunicación.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Parametrización padre</a:t>
            </a:r>
            <a:r>
              <a:rPr lang="es-ES_tradnl" sz="2000" dirty="0"/>
              <a:t>: Agrupador de plantillas a la que pertenece.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Tipo</a:t>
            </a:r>
            <a:r>
              <a:rPr lang="es-ES_tradnl" sz="2000" dirty="0"/>
              <a:t>: </a:t>
            </a:r>
            <a:r>
              <a:rPr lang="es-ES_tradnl" sz="2000" i="1" dirty="0"/>
              <a:t>Correo electrónico </a:t>
            </a:r>
            <a:r>
              <a:rPr lang="es-ES_tradnl" sz="2000" dirty="0"/>
              <a:t>o </a:t>
            </a:r>
            <a:r>
              <a:rPr lang="es-ES_tradnl" sz="2000" i="1" dirty="0"/>
              <a:t>SMS</a:t>
            </a:r>
            <a:r>
              <a:rPr lang="es-ES_tradnl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dirty="0"/>
              <a:t>Idioma</a:t>
            </a:r>
            <a:r>
              <a:rPr lang="es-ES_tradnl" sz="2000" dirty="0"/>
              <a:t>: La plantilla se usará cuando el valor indicado aquí coincida con el idioma de la llamada.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631EA25-2810-274D-97FB-03A080B66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1513513"/>
            <a:ext cx="10354733" cy="278401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17892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B53709E-5C41-E94F-BB9B-4DA43BF583D0}"/>
              </a:ext>
            </a:extLst>
          </p:cNvPr>
          <p:cNvSpPr txBox="1"/>
          <p:nvPr/>
        </p:nvSpPr>
        <p:spPr>
          <a:xfrm>
            <a:off x="618064" y="1078340"/>
            <a:ext cx="1115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dirty="0"/>
              <a:t>Los responsables </a:t>
            </a:r>
            <a:r>
              <a:rPr lang="es-ES_tradnl" sz="2000" dirty="0" err="1"/>
              <a:t>Outbound</a:t>
            </a:r>
            <a:r>
              <a:rPr lang="es-ES_tradnl" sz="2000" dirty="0"/>
              <a:t> pueden crear, modificar y eliminar registros de parametrización.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90A6AC5-73F7-3A48-9510-44478D86B3AB}"/>
              </a:ext>
            </a:extLst>
          </p:cNvPr>
          <p:cNvSpPr txBox="1"/>
          <p:nvPr/>
        </p:nvSpPr>
        <p:spPr>
          <a:xfrm>
            <a:off x="766241" y="1634070"/>
            <a:ext cx="1046902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b="1" dirty="0"/>
              <a:t>Crear nueva parametrización</a:t>
            </a:r>
          </a:p>
          <a:p>
            <a:pPr lvl="2"/>
            <a:r>
              <a:rPr lang="es-ES_tradnl" dirty="0"/>
              <a:t>En cualquier listado de parametrizaciones, pulsar ”Nuevo”</a:t>
            </a:r>
            <a:r>
              <a:rPr lang="es-ES_tradnl" dirty="0">
                <a:sym typeface="Wingdings" pitchFamily="2" charset="2"/>
              </a:rPr>
              <a:t>. No es necesario que el listado activo coincida con el tipo de parametrización que se va a crear. Al pulsar “Nuevo” el usuario podrá seleccionar el tipo del nuevo registro.</a:t>
            </a:r>
            <a:endParaRPr lang="es-ES_tradn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F9247E3-0C33-004C-B5CE-B13A5EFEC316}"/>
              </a:ext>
            </a:extLst>
          </p:cNvPr>
          <p:cNvSpPr txBox="1"/>
          <p:nvPr/>
        </p:nvSpPr>
        <p:spPr>
          <a:xfrm>
            <a:off x="766240" y="4466389"/>
            <a:ext cx="1065951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b="1" dirty="0"/>
              <a:t>Editar parametrización existente</a:t>
            </a:r>
          </a:p>
          <a:p>
            <a:pPr lvl="2"/>
            <a:r>
              <a:rPr lang="es-ES_tradnl" dirty="0"/>
              <a:t>En el detalle de un registro de parametrización existente, pulsar “Modificar”.</a:t>
            </a:r>
          </a:p>
          <a:p>
            <a:endParaRPr lang="es-ES_tradnl" sz="20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0DF0C86-4A5D-1849-AFA6-AB7F14C97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064" y="89945"/>
            <a:ext cx="10515600" cy="1325563"/>
          </a:xfrm>
        </p:spPr>
        <p:txBody>
          <a:bodyPr/>
          <a:lstStyle/>
          <a:p>
            <a:r>
              <a:rPr lang="es-ES_tradnl" dirty="0"/>
              <a:t>Crear i editar parametrizaciones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59B8723-72D1-304C-BBC0-562C75FB7C5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97"/>
          <a:stretch/>
        </p:blipFill>
        <p:spPr>
          <a:xfrm>
            <a:off x="1773773" y="2909912"/>
            <a:ext cx="7260160" cy="124337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0D1F2DA-36EF-8D4A-AFAF-889763596E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6839" y="5183093"/>
            <a:ext cx="7260160" cy="102187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792530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68883"/>
            <a:ext cx="11760200" cy="1325563"/>
          </a:xfrm>
        </p:spPr>
        <p:txBody>
          <a:bodyPr/>
          <a:lstStyle/>
          <a:p>
            <a:r>
              <a:rPr lang="es-ES_tradnl" dirty="0"/>
              <a:t>Plantillas de correo electrónico </a:t>
            </a:r>
            <a:r>
              <a:rPr lang="es-ES_tradnl" dirty="0" err="1"/>
              <a:t>Salesforce</a:t>
            </a:r>
            <a:r>
              <a:rPr lang="es-ES_tradnl" dirty="0"/>
              <a:t> (1)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DA7E7A8-8740-C941-B0D8-B7587BBFC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907" y="1648883"/>
            <a:ext cx="4126098" cy="356023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439193E-8A37-A94F-8945-0A3434AEA8C1}"/>
              </a:ext>
            </a:extLst>
          </p:cNvPr>
          <p:cNvSpPr txBox="1"/>
          <p:nvPr/>
        </p:nvSpPr>
        <p:spPr>
          <a:xfrm>
            <a:off x="5336233" y="1303866"/>
            <a:ext cx="54333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Objeto estándar que representa el contenido de las plantillas de correo y SMS que se usarán para el envío automático de comunicaciones salientes.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Visible exclusivamente para usuarios con perfil “Responsable”.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No visible para usuarios con perfil “Validador”.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D42A010A-3912-4B44-9886-094AEB12DD48}"/>
              </a:ext>
            </a:extLst>
          </p:cNvPr>
          <p:cNvGrpSpPr/>
          <p:nvPr/>
        </p:nvGrpSpPr>
        <p:grpSpPr>
          <a:xfrm>
            <a:off x="5711803" y="4419323"/>
            <a:ext cx="5234401" cy="1325564"/>
            <a:chOff x="4487711" y="5543093"/>
            <a:chExt cx="5048620" cy="1205153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AA0ACCB7-27BF-6B49-83FA-016B5B8F3AC0}"/>
                </a:ext>
              </a:extLst>
            </p:cNvPr>
            <p:cNvSpPr/>
            <p:nvPr/>
          </p:nvSpPr>
          <p:spPr>
            <a:xfrm>
              <a:off x="4487711" y="5543093"/>
              <a:ext cx="5048620" cy="1205153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19000"/>
              </a:schemeClr>
            </a:solidFill>
            <a:ln w="12700" cap="rnd">
              <a:solidFill>
                <a:schemeClr val="accent2">
                  <a:lumMod val="60000"/>
                  <a:lumOff val="40000"/>
                  <a:alpha val="90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736CC52A-995A-E04A-91E2-5A2584C85DEA}"/>
                </a:ext>
              </a:extLst>
            </p:cNvPr>
            <p:cNvSpPr txBox="1"/>
            <p:nvPr/>
          </p:nvSpPr>
          <p:spPr>
            <a:xfrm>
              <a:off x="4937622" y="5566186"/>
              <a:ext cx="1745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000"/>
                <a:t>IMPORTANTE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509D3966-B6E3-7F49-97FE-38F4C784F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623493" y="5618863"/>
              <a:ext cx="301429" cy="272101"/>
            </a:xfrm>
            <a:prstGeom prst="rect">
              <a:avLst/>
            </a:prstGeom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060E2845-F0F3-E04B-BD24-B3A1B36BB711}"/>
                </a:ext>
              </a:extLst>
            </p:cNvPr>
            <p:cNvSpPr txBox="1"/>
            <p:nvPr/>
          </p:nvSpPr>
          <p:spPr>
            <a:xfrm>
              <a:off x="4616847" y="5880745"/>
              <a:ext cx="4919484" cy="7555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600" dirty="0"/>
                <a:t>Aunque este objeto estándar de </a:t>
              </a:r>
              <a:r>
                <a:rPr lang="es-ES_tradnl" sz="1600" dirty="0" err="1"/>
                <a:t>Salesforce</a:t>
              </a:r>
              <a:r>
                <a:rPr lang="es-ES_tradnl" sz="1600" dirty="0"/>
                <a:t> está pensado para correos electrónicos, la app </a:t>
              </a:r>
              <a:r>
                <a:rPr lang="es-ES_tradnl" sz="1600" dirty="0" err="1"/>
                <a:t>Outbound</a:t>
              </a:r>
              <a:r>
                <a:rPr lang="es-ES_tradnl" sz="1600" dirty="0"/>
                <a:t> lo usa también para generar el contenido para mensajes SMS.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0050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68883"/>
            <a:ext cx="11760200" cy="1325563"/>
          </a:xfrm>
        </p:spPr>
        <p:txBody>
          <a:bodyPr/>
          <a:lstStyle/>
          <a:p>
            <a:r>
              <a:rPr lang="es-ES_tradnl" dirty="0"/>
              <a:t>Plantillas de correo electrónico </a:t>
            </a:r>
            <a:r>
              <a:rPr lang="es-ES_tradnl" dirty="0" err="1"/>
              <a:t>Salesforce</a:t>
            </a:r>
            <a:r>
              <a:rPr lang="es-ES_tradnl" dirty="0"/>
              <a:t> (2)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439193E-8A37-A94F-8945-0A3434AEA8C1}"/>
              </a:ext>
            </a:extLst>
          </p:cNvPr>
          <p:cNvSpPr txBox="1"/>
          <p:nvPr/>
        </p:nvSpPr>
        <p:spPr>
          <a:xfrm>
            <a:off x="618063" y="1027538"/>
            <a:ext cx="12014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Las plantillas de </a:t>
            </a:r>
            <a:r>
              <a:rPr lang="es-ES_tradnl" dirty="0" err="1"/>
              <a:t>Outbound</a:t>
            </a:r>
            <a:r>
              <a:rPr lang="es-ES_tradnl" dirty="0"/>
              <a:t> se pueden consultar en </a:t>
            </a:r>
            <a:r>
              <a:rPr lang="es-ES_tradnl" i="1" dirty="0"/>
              <a:t>Plantillas de correo electrónico</a:t>
            </a:r>
            <a:r>
              <a:rPr lang="es-ES_tradnl" dirty="0"/>
              <a:t> </a:t>
            </a:r>
            <a:r>
              <a:rPr lang="es-ES_tradnl" sz="1400" dirty="0">
                <a:sym typeface="Wingdings" pitchFamily="2" charset="2"/>
              </a:rPr>
              <a:t></a:t>
            </a:r>
            <a:r>
              <a:rPr lang="es-ES_tradnl" dirty="0">
                <a:sym typeface="Wingdings" pitchFamily="2" charset="2"/>
              </a:rPr>
              <a:t> </a:t>
            </a:r>
            <a:r>
              <a:rPr lang="es-ES_tradnl" i="1" dirty="0">
                <a:sym typeface="Wingdings" pitchFamily="2" charset="2"/>
              </a:rPr>
              <a:t>Todas las carpetas </a:t>
            </a:r>
            <a:r>
              <a:rPr lang="es-ES_tradnl" sz="1400" dirty="0">
                <a:sym typeface="Wingdings" pitchFamily="2" charset="2"/>
              </a:rPr>
              <a:t></a:t>
            </a:r>
            <a:r>
              <a:rPr lang="es-ES_tradnl" dirty="0">
                <a:sym typeface="Wingdings" pitchFamily="2" charset="2"/>
              </a:rPr>
              <a:t> </a:t>
            </a:r>
            <a:r>
              <a:rPr lang="es-ES_tradnl" i="1" dirty="0" err="1">
                <a:sym typeface="Wingdings" pitchFamily="2" charset="2"/>
              </a:rPr>
              <a:t>Outbound</a:t>
            </a:r>
            <a:r>
              <a:rPr lang="es-ES_tradnl" dirty="0">
                <a:sym typeface="Wingdings" pitchFamily="2" charset="2"/>
              </a:rPr>
              <a:t>.</a:t>
            </a:r>
            <a:endParaRPr lang="es-ES_tradnl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FBC5F75-8673-B443-90E5-7FB4022A8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866" y="1445248"/>
            <a:ext cx="9762067" cy="41981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163821B-3315-1743-85DC-E7B93121E860}"/>
              </a:ext>
            </a:extLst>
          </p:cNvPr>
          <p:cNvSpPr txBox="1"/>
          <p:nvPr/>
        </p:nvSpPr>
        <p:spPr>
          <a:xfrm>
            <a:off x="685799" y="5854878"/>
            <a:ext cx="10803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La plantilla se usará si su nombre coincide con el nombre de un registro de parametrización de tipo </a:t>
            </a:r>
            <a:r>
              <a:rPr lang="es-ES_tradnl" dirty="0">
                <a:hlinkClick r:id="rId5" action="ppaction://hlinksldjump"/>
              </a:rPr>
              <a:t>Plantilla por tipo e idioma</a:t>
            </a:r>
            <a:r>
              <a:rPr lang="es-ES_tradnl" dirty="0"/>
              <a:t> o, si no se encuentra ninguno, con la plantilla por defecto de un </a:t>
            </a:r>
            <a:r>
              <a:rPr lang="es-ES_tradnl" dirty="0">
                <a:hlinkClick r:id="rId6" action="ppaction://hlinksldjump"/>
              </a:rPr>
              <a:t>Agrupador de plantillas</a:t>
            </a:r>
            <a:r>
              <a:rPr lang="es-ES_trad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7188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3" y="68883"/>
            <a:ext cx="11760200" cy="1325563"/>
          </a:xfrm>
        </p:spPr>
        <p:txBody>
          <a:bodyPr>
            <a:normAutofit/>
          </a:bodyPr>
          <a:lstStyle/>
          <a:p>
            <a:r>
              <a:rPr lang="es-ES_tradnl" sz="3600" dirty="0"/>
              <a:t>Crear i editar plantillas de correo electrónico </a:t>
            </a:r>
            <a:r>
              <a:rPr lang="es-ES_tradnl" sz="3600" dirty="0" err="1"/>
              <a:t>Salesforce</a:t>
            </a:r>
            <a:r>
              <a:rPr lang="es-ES_tradnl" sz="3600" dirty="0"/>
              <a:t> (1)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B14275A-07DD-5F4D-8D6A-27DB127BFD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264" y="4797638"/>
            <a:ext cx="10223493" cy="76108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D676B4C-1710-F846-BE2F-EE1F789DDF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2265" y="2714744"/>
            <a:ext cx="10223493" cy="96171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B53709E-5C41-E94F-BB9B-4DA43BF583D0}"/>
              </a:ext>
            </a:extLst>
          </p:cNvPr>
          <p:cNvSpPr txBox="1"/>
          <p:nvPr/>
        </p:nvSpPr>
        <p:spPr>
          <a:xfrm>
            <a:off x="618064" y="1078340"/>
            <a:ext cx="1115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dirty="0"/>
              <a:t>Los responsables </a:t>
            </a:r>
            <a:r>
              <a:rPr lang="es-ES_tradnl" sz="2000" dirty="0" err="1"/>
              <a:t>Outbound</a:t>
            </a:r>
            <a:r>
              <a:rPr lang="es-ES_tradnl" sz="2000" dirty="0"/>
              <a:t> pueden crear, modificar y eliminar plantillas dentro de la carpeta </a:t>
            </a:r>
            <a:r>
              <a:rPr lang="es-ES_tradnl" sz="2000" dirty="0" err="1"/>
              <a:t>Outbound</a:t>
            </a:r>
            <a:r>
              <a:rPr lang="es-ES_tradnl" sz="2000" dirty="0"/>
              <a:t>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90A6AC5-73F7-3A48-9510-44478D86B3AB}"/>
              </a:ext>
            </a:extLst>
          </p:cNvPr>
          <p:cNvSpPr txBox="1"/>
          <p:nvPr/>
        </p:nvSpPr>
        <p:spPr>
          <a:xfrm>
            <a:off x="766241" y="1718737"/>
            <a:ext cx="104690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b="1" dirty="0"/>
              <a:t>Crear nueva plantilla</a:t>
            </a:r>
          </a:p>
          <a:p>
            <a:pPr lvl="1"/>
            <a:r>
              <a:rPr lang="es-ES_tradnl" dirty="0"/>
              <a:t>En </a:t>
            </a:r>
            <a:r>
              <a:rPr lang="es-ES_tradnl" i="1" dirty="0"/>
              <a:t>Plantillas de correo electrónico</a:t>
            </a:r>
            <a:r>
              <a:rPr lang="es-ES_tradnl" dirty="0"/>
              <a:t> </a:t>
            </a:r>
            <a:r>
              <a:rPr lang="es-ES_tradnl" sz="1400" dirty="0">
                <a:sym typeface="Wingdings" pitchFamily="2" charset="2"/>
              </a:rPr>
              <a:t></a:t>
            </a:r>
            <a:r>
              <a:rPr lang="es-ES_tradnl" dirty="0">
                <a:sym typeface="Wingdings" pitchFamily="2" charset="2"/>
              </a:rPr>
              <a:t> </a:t>
            </a:r>
            <a:r>
              <a:rPr lang="es-ES_tradnl" i="1" dirty="0">
                <a:sym typeface="Wingdings" pitchFamily="2" charset="2"/>
              </a:rPr>
              <a:t>Todas las carpetas </a:t>
            </a:r>
            <a:r>
              <a:rPr lang="es-ES_tradnl" sz="1400" dirty="0">
                <a:sym typeface="Wingdings" pitchFamily="2" charset="2"/>
              </a:rPr>
              <a:t></a:t>
            </a:r>
            <a:r>
              <a:rPr lang="es-ES_tradnl" dirty="0">
                <a:sym typeface="Wingdings" pitchFamily="2" charset="2"/>
              </a:rPr>
              <a:t> </a:t>
            </a:r>
            <a:r>
              <a:rPr lang="es-ES_tradnl" i="1" dirty="0" err="1">
                <a:sym typeface="Wingdings" pitchFamily="2" charset="2"/>
              </a:rPr>
              <a:t>Outbound</a:t>
            </a:r>
            <a:r>
              <a:rPr lang="es-ES_tradnl" dirty="0">
                <a:sym typeface="Wingdings" pitchFamily="2" charset="2"/>
              </a:rPr>
              <a:t>, pulsar “Nueva plantilla de correo electrónico”.</a:t>
            </a:r>
            <a:endParaRPr lang="es-ES_tradn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F9247E3-0C33-004C-B5CE-B13A5EFEC316}"/>
              </a:ext>
            </a:extLst>
          </p:cNvPr>
          <p:cNvSpPr txBox="1"/>
          <p:nvPr/>
        </p:nvSpPr>
        <p:spPr>
          <a:xfrm>
            <a:off x="766240" y="4076922"/>
            <a:ext cx="1065951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b="1" dirty="0"/>
              <a:t>Editar plantilla existente</a:t>
            </a:r>
          </a:p>
          <a:p>
            <a:pPr lvl="1"/>
            <a:r>
              <a:rPr lang="es-ES_tradnl" dirty="0"/>
              <a:t>En el detalle de una plantilla existente, pulsar “Modificar”.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sz="2000" dirty="0"/>
          </a:p>
        </p:txBody>
      </p:sp>
    </p:spTree>
    <p:extLst>
      <p:ext uri="{BB962C8B-B14F-4D97-AF65-F5344CB8AC3E}">
        <p14:creationId xmlns:p14="http://schemas.microsoft.com/office/powerpoint/2010/main" val="3661127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960" y="68883"/>
            <a:ext cx="11760200" cy="1325563"/>
          </a:xfrm>
        </p:spPr>
        <p:txBody>
          <a:bodyPr>
            <a:normAutofit/>
          </a:bodyPr>
          <a:lstStyle/>
          <a:p>
            <a:r>
              <a:rPr lang="es-ES_tradnl" sz="3600" dirty="0"/>
              <a:t>Crear i editar plantillas de correo electrónico </a:t>
            </a:r>
            <a:r>
              <a:rPr lang="es-ES_tradnl" sz="3600" dirty="0" err="1"/>
              <a:t>Salesforce</a:t>
            </a:r>
            <a:r>
              <a:rPr lang="es-ES_tradnl" sz="3600" dirty="0"/>
              <a:t> (2)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F40940A-E166-5749-8452-271616139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15" y="1247581"/>
            <a:ext cx="6235245" cy="489075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F21551D-D248-C542-BEAB-0B56558C6E10}"/>
              </a:ext>
            </a:extLst>
          </p:cNvPr>
          <p:cNvSpPr txBox="1"/>
          <p:nvPr/>
        </p:nvSpPr>
        <p:spPr>
          <a:xfrm>
            <a:off x="7111374" y="1247582"/>
            <a:ext cx="464460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b="1" dirty="0"/>
              <a:t>Tipo de entidad relacionada</a:t>
            </a:r>
            <a:r>
              <a:rPr lang="es-ES_tradnl" sz="2000" dirty="0"/>
              <a:t>:</a:t>
            </a:r>
          </a:p>
          <a:p>
            <a:pPr lvl="1"/>
            <a:r>
              <a:rPr lang="es-ES_tradnl" sz="2000" dirty="0"/>
              <a:t>Para </a:t>
            </a:r>
            <a:r>
              <a:rPr lang="es-ES_tradnl" sz="2000" dirty="0" err="1"/>
              <a:t>Outbound</a:t>
            </a:r>
            <a:r>
              <a:rPr lang="es-ES_tradnl" sz="2000" dirty="0"/>
              <a:t>, siempre debe seleccionarse “Llamada”.</a:t>
            </a:r>
          </a:p>
          <a:p>
            <a:pPr lvl="1"/>
            <a:endParaRPr lang="es-ES_tradn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b="1" dirty="0"/>
              <a:t>Carpeta</a:t>
            </a:r>
            <a:r>
              <a:rPr lang="es-ES_tradnl" sz="2000" dirty="0"/>
              <a:t>:</a:t>
            </a:r>
          </a:p>
          <a:p>
            <a:pPr lvl="1"/>
            <a:r>
              <a:rPr lang="es-ES_tradnl" sz="2000" dirty="0"/>
              <a:t>Para </a:t>
            </a:r>
            <a:r>
              <a:rPr lang="es-ES_tradnl" sz="2000" dirty="0" err="1"/>
              <a:t>Outbound</a:t>
            </a:r>
            <a:r>
              <a:rPr lang="es-ES_tradnl" sz="2000" dirty="0"/>
              <a:t>, siempre debe seleccionarse “</a:t>
            </a:r>
            <a:r>
              <a:rPr lang="es-ES_tradnl" sz="2000" dirty="0" err="1"/>
              <a:t>Outbound</a:t>
            </a:r>
            <a:r>
              <a:rPr lang="es-ES_tradnl" sz="2000" dirty="0"/>
              <a:t>”.</a:t>
            </a:r>
          </a:p>
          <a:p>
            <a:pPr lvl="1"/>
            <a:endParaRPr lang="es-ES_tradn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b="1" dirty="0"/>
              <a:t>Asunto</a:t>
            </a:r>
            <a:r>
              <a:rPr lang="es-ES_tradnl" sz="2000" dirty="0"/>
              <a:t>:</a:t>
            </a:r>
          </a:p>
          <a:p>
            <a:pPr lvl="1"/>
            <a:r>
              <a:rPr lang="es-ES_tradnl" sz="2000" dirty="0"/>
              <a:t>Asunto de los correos generados mediante esta plantilla (no tiene efecto para SMS).</a:t>
            </a:r>
          </a:p>
          <a:p>
            <a:pPr lvl="1"/>
            <a:endParaRPr lang="es-ES_tradn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b="1" dirty="0"/>
              <a:t>Valor HTML</a:t>
            </a:r>
            <a:r>
              <a:rPr lang="es-ES_tradnl" sz="2000" dirty="0"/>
              <a:t>:</a:t>
            </a:r>
          </a:p>
          <a:p>
            <a:pPr lvl="1"/>
            <a:r>
              <a:rPr lang="es-ES_tradnl" sz="2000" dirty="0"/>
              <a:t>Cuerpo de los mensajes generados.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sz="2000" dirty="0"/>
          </a:p>
        </p:txBody>
      </p:sp>
    </p:spTree>
    <p:extLst>
      <p:ext uri="{BB962C8B-B14F-4D97-AF65-F5344CB8AC3E}">
        <p14:creationId xmlns:p14="http://schemas.microsoft.com/office/powerpoint/2010/main" val="670255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3" y="-41184"/>
            <a:ext cx="11760200" cy="1325563"/>
          </a:xfrm>
        </p:spPr>
        <p:txBody>
          <a:bodyPr>
            <a:normAutofit/>
          </a:bodyPr>
          <a:lstStyle/>
          <a:p>
            <a:r>
              <a:rPr lang="es-ES_tradnl" sz="3600" dirty="0"/>
              <a:t>Crear i editar plantillas de correo electrónico </a:t>
            </a:r>
            <a:r>
              <a:rPr lang="es-ES_tradnl" sz="3600" dirty="0" err="1"/>
              <a:t>Salesforce</a:t>
            </a:r>
            <a:r>
              <a:rPr lang="es-ES_tradnl" sz="3600" dirty="0"/>
              <a:t> (3)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F21551D-D248-C542-BEAB-0B56558C6E10}"/>
              </a:ext>
            </a:extLst>
          </p:cNvPr>
          <p:cNvSpPr txBox="1"/>
          <p:nvPr/>
        </p:nvSpPr>
        <p:spPr>
          <a:xfrm>
            <a:off x="5596467" y="993556"/>
            <a:ext cx="608753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Es posible usar campos de combinación en el cuerpo del mensaje, que al generar el mensaje serán sustituidos por datos de la llamada concreta para la que se envía la comunicación.</a:t>
            </a:r>
          </a:p>
          <a:p>
            <a:endParaRPr lang="es-ES_tradnl" sz="1600" dirty="0"/>
          </a:p>
          <a:p>
            <a:r>
              <a:rPr lang="es-ES_tradnl" sz="1600" dirty="0"/>
              <a:t>Para añadir un campo de combinación mientras se edita una plantilla, pulsar el botón “Insertar campo de combinación” que se encuentra al final de la página.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0099AD1-D42E-534A-B295-C6A352292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99" y="897463"/>
            <a:ext cx="4586401" cy="380244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86093AE-DF72-BE40-8E58-6F8B44C8166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292" t="11415" b="697"/>
          <a:stretch/>
        </p:blipFill>
        <p:spPr>
          <a:xfrm>
            <a:off x="936415" y="4803720"/>
            <a:ext cx="4318424" cy="175432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550642A-A33B-954F-A597-981A549500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2176" y="2972932"/>
            <a:ext cx="4318425" cy="272488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1A1ACA86-4382-D847-ADF6-004DF517038A}"/>
              </a:ext>
            </a:extLst>
          </p:cNvPr>
          <p:cNvSpPr txBox="1"/>
          <p:nvPr/>
        </p:nvSpPr>
        <p:spPr>
          <a:xfrm>
            <a:off x="5596467" y="5879641"/>
            <a:ext cx="6282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1600"/>
            </a:lvl1pPr>
          </a:lstStyle>
          <a:p>
            <a:r>
              <a:rPr lang="es-ES_tradnl" dirty="0"/>
              <a:t>Los campos de la llamada están disponibles en la sección “Llamada”.</a:t>
            </a:r>
          </a:p>
        </p:txBody>
      </p:sp>
    </p:spTree>
    <p:extLst>
      <p:ext uri="{BB962C8B-B14F-4D97-AF65-F5344CB8AC3E}">
        <p14:creationId xmlns:p14="http://schemas.microsoft.com/office/powerpoint/2010/main" val="2250056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68883"/>
            <a:ext cx="11760200" cy="1325563"/>
          </a:xfrm>
        </p:spPr>
        <p:txBody>
          <a:bodyPr/>
          <a:lstStyle/>
          <a:p>
            <a:r>
              <a:rPr lang="es-ES_tradnl" dirty="0"/>
              <a:t>Grupos públicos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500830E-CE41-B246-81D7-0E6724D3B063}"/>
              </a:ext>
            </a:extLst>
          </p:cNvPr>
          <p:cNvSpPr txBox="1"/>
          <p:nvPr/>
        </p:nvSpPr>
        <p:spPr>
          <a:xfrm>
            <a:off x="7789329" y="1246321"/>
            <a:ext cx="42587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Objeto estándar que agrupa usuarios de </a:t>
            </a:r>
            <a:r>
              <a:rPr lang="es-ES_tradnl" sz="2000" dirty="0" err="1"/>
              <a:t>Salesforce</a:t>
            </a:r>
            <a:r>
              <a:rPr lang="es-ES_tradnl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Para </a:t>
            </a:r>
            <a:r>
              <a:rPr lang="es-ES_tradnl" sz="2000" dirty="0" err="1"/>
              <a:t>Outbound</a:t>
            </a:r>
            <a:r>
              <a:rPr lang="es-ES_tradnl" sz="2000" dirty="0"/>
              <a:t>, se usa para agrupar los usuarios de cada proveedor/plataforma.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Por política de </a:t>
            </a:r>
            <a:r>
              <a:rPr lang="es-ES_tradnl" sz="2000" dirty="0" err="1"/>
              <a:t>CaixaBank</a:t>
            </a:r>
            <a:r>
              <a:rPr lang="es-ES_tradnl" sz="2000" dirty="0"/>
              <a:t>, su gestión la realiza únicamente el equipo de Oficina Técnica </a:t>
            </a:r>
            <a:r>
              <a:rPr lang="es-ES_tradnl" sz="2000" dirty="0" err="1"/>
              <a:t>Salesforce</a:t>
            </a:r>
            <a:r>
              <a:rPr lang="es-ES_tradnl" sz="2000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FCE0020-4E31-E648-B34D-1A6525EAD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31" y="1172731"/>
            <a:ext cx="6946900" cy="297824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0E7F5DA-6481-4549-891E-1989068FD75A}"/>
              </a:ext>
            </a:extLst>
          </p:cNvPr>
          <p:cNvSpPr txBox="1"/>
          <p:nvPr/>
        </p:nvSpPr>
        <p:spPr>
          <a:xfrm>
            <a:off x="626529" y="4439837"/>
            <a:ext cx="1127760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28600">
              <a:buFont typeface="Arial" panose="020B0604020202020204" pitchFamily="34" charset="0"/>
              <a:buChar char="•"/>
            </a:pPr>
            <a:r>
              <a:rPr lang="es-ES_tradnl" sz="2000" dirty="0"/>
              <a:t>No visible para usuarios con perfil “Responsable”.</a:t>
            </a:r>
          </a:p>
          <a:p>
            <a:pPr lvl="1" indent="-187325"/>
            <a:r>
              <a:rPr lang="es-ES_tradnl" sz="2000" dirty="0"/>
              <a:t>No visible para usuarios con perfil “Validador”.</a:t>
            </a:r>
          </a:p>
          <a:p>
            <a:pPr lvl="1" indent="-187325"/>
            <a:endParaRPr lang="es-ES_tradnl" sz="2000" dirty="0"/>
          </a:p>
          <a:p>
            <a:pPr marL="269875" lvl="1" indent="-228600">
              <a:buFont typeface="Arial" panose="020B0604020202020204" pitchFamily="34" charset="0"/>
              <a:buChar char="•"/>
            </a:pPr>
            <a:r>
              <a:rPr lang="es-ES_tradnl" sz="2000" dirty="0"/>
              <a:t>Los cambios en los miembros de los grupos públicos deberán solicitarse al equipo de Oficina Técnica </a:t>
            </a:r>
            <a:r>
              <a:rPr lang="es-ES_tradnl" sz="2000" dirty="0" err="1"/>
              <a:t>Salesforce</a:t>
            </a:r>
            <a:r>
              <a:rPr lang="es-ES_tradnl" sz="2000" dirty="0"/>
              <a:t> mediante correo electrónico (</a:t>
            </a:r>
            <a:r>
              <a:rPr lang="es-ES" dirty="0" err="1">
                <a:hlinkClick r:id="rId5"/>
              </a:rPr>
              <a:t>oficinatecnica.salesforce@caixabanktech.com</a:t>
            </a:r>
            <a:r>
              <a:rPr lang="es-ES_tradnl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240368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444E-2F8E-874E-9F6E-3B81D91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68883"/>
            <a:ext cx="11760200" cy="1325563"/>
          </a:xfrm>
        </p:spPr>
        <p:txBody>
          <a:bodyPr/>
          <a:lstStyle/>
          <a:p>
            <a:r>
              <a:rPr lang="es-ES_tradnl" dirty="0"/>
              <a:t>Usuarios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500830E-CE41-B246-81D7-0E6724D3B063}"/>
              </a:ext>
            </a:extLst>
          </p:cNvPr>
          <p:cNvSpPr txBox="1"/>
          <p:nvPr/>
        </p:nvSpPr>
        <p:spPr>
          <a:xfrm>
            <a:off x="7789329" y="1246321"/>
            <a:ext cx="425873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Objeto estándar que para </a:t>
            </a:r>
            <a:r>
              <a:rPr lang="es-ES_tradnl" sz="2000" dirty="0" err="1"/>
              <a:t>Outbound</a:t>
            </a:r>
            <a:r>
              <a:rPr lang="es-ES_tradnl" sz="2000" dirty="0"/>
              <a:t> se usa para representar a los agentes que van a usar la aplicación.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/>
              <a:t>Por política de </a:t>
            </a:r>
            <a:r>
              <a:rPr lang="es-ES_tradnl" sz="2000" dirty="0" err="1"/>
              <a:t>CaixaBank</a:t>
            </a:r>
            <a:r>
              <a:rPr lang="es-ES_tradnl" sz="2000" dirty="0"/>
              <a:t>, su gestión la realiza únicamente el equipo de Oficina Técnica </a:t>
            </a:r>
            <a:r>
              <a:rPr lang="es-ES_tradnl" sz="2000" dirty="0" err="1"/>
              <a:t>Salesforce</a:t>
            </a:r>
            <a:r>
              <a:rPr lang="es-ES_tradnl" sz="2000" dirty="0"/>
              <a:t>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0E7F5DA-6481-4549-891E-1989068FD75A}"/>
              </a:ext>
            </a:extLst>
          </p:cNvPr>
          <p:cNvSpPr txBox="1"/>
          <p:nvPr/>
        </p:nvSpPr>
        <p:spPr>
          <a:xfrm>
            <a:off x="626529" y="4439837"/>
            <a:ext cx="1127760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28600">
              <a:buFont typeface="Arial" panose="020B0604020202020204" pitchFamily="34" charset="0"/>
              <a:buChar char="•"/>
            </a:pPr>
            <a:r>
              <a:rPr lang="es-ES_tradnl" sz="2000" dirty="0"/>
              <a:t>No visible para usuarios con perfil “Responsable”.</a:t>
            </a:r>
          </a:p>
          <a:p>
            <a:pPr lvl="1" indent="-187325"/>
            <a:r>
              <a:rPr lang="es-ES_tradnl" sz="2000" dirty="0"/>
              <a:t>No visible para usuarios con perfil “Validador”.</a:t>
            </a:r>
          </a:p>
          <a:p>
            <a:pPr lvl="1" indent="-187325"/>
            <a:endParaRPr lang="es-ES_tradnl" sz="2000" dirty="0"/>
          </a:p>
          <a:p>
            <a:pPr marL="269875" lvl="1" indent="-228600">
              <a:buFont typeface="Arial" panose="020B0604020202020204" pitchFamily="34" charset="0"/>
              <a:buChar char="•"/>
            </a:pPr>
            <a:r>
              <a:rPr lang="es-ES_tradnl" sz="2000" dirty="0"/>
              <a:t>Los altas, bajas y modificaciones de usuario deberán solicitarse al equipo de Oficina Técnica </a:t>
            </a:r>
            <a:r>
              <a:rPr lang="es-ES_tradnl" sz="2000" dirty="0" err="1"/>
              <a:t>Salesforce</a:t>
            </a:r>
            <a:r>
              <a:rPr lang="es-ES_tradnl" sz="2000" dirty="0"/>
              <a:t> mediante correo electrónico (</a:t>
            </a:r>
            <a:r>
              <a:rPr lang="es-ES" dirty="0" err="1">
                <a:hlinkClick r:id="rId4"/>
              </a:rPr>
              <a:t>oficinatecnica.salesforce@caixabanktech.com</a:t>
            </a:r>
            <a:r>
              <a:rPr lang="es-ES_tradnl" sz="2000" dirty="0"/>
              <a:t>).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C600B32-E20F-3145-826D-5CDF9E585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424" y="1085432"/>
            <a:ext cx="6760643" cy="320383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869141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95C338-5994-FD4F-A7B7-9D3D8AA91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2" y="4366399"/>
            <a:ext cx="3821934" cy="564015"/>
          </a:xfrm>
          <a:prstGeom prst="rect">
            <a:avLst/>
          </a:prstGeom>
        </p:spPr>
      </p:pic>
      <p:pic>
        <p:nvPicPr>
          <p:cNvPr id="1026" name="Picture 2" descr="Portal de la Filial Tecnológica de Caixabank Silk">
            <a:extLst>
              <a:ext uri="{FF2B5EF4-FFF2-40B4-BE49-F238E27FC236}">
                <a16:creationId xmlns:a16="http://schemas.microsoft.com/office/drawing/2014/main" id="{1E8608D4-A424-6545-91E7-C81A7CEE8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278" y="4309538"/>
            <a:ext cx="2855393" cy="716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34751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7277</TotalTime>
  <Words>1682</Words>
  <Application>Microsoft Macintosh PowerPoint</Application>
  <PresentationFormat>Panorámica</PresentationFormat>
  <Paragraphs>195</Paragraphs>
  <Slides>23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SalesforceSans-Regular</vt:lpstr>
      <vt:lpstr>Tema de Office</vt:lpstr>
      <vt:lpstr>Aplicación Outbound</vt:lpstr>
      <vt:lpstr>Contenido de este documento</vt:lpstr>
      <vt:lpstr>App Outbound</vt:lpstr>
      <vt:lpstr>Objeto “Parametrización”</vt:lpstr>
      <vt:lpstr>Listados por tipo de parametrización (1)</vt:lpstr>
      <vt:lpstr>Listados por tipo de parametrización (2)</vt:lpstr>
      <vt:lpstr>Parametrización: Plataformas</vt:lpstr>
      <vt:lpstr>Parametrización: Familias de producto</vt:lpstr>
      <vt:lpstr>Parametrización: Productos</vt:lpstr>
      <vt:lpstr>Parametrización: Campañas</vt:lpstr>
      <vt:lpstr>Parametrización: Relaciones Campaña - Producto</vt:lpstr>
      <vt:lpstr>Parametrización: Resultados de cierre</vt:lpstr>
      <vt:lpstr>Parametrización: Agrupadores de plantillas</vt:lpstr>
      <vt:lpstr>Parametrización: Plantillas por tipo e idioma</vt:lpstr>
      <vt:lpstr>Crear i editar parametrizaciones</vt:lpstr>
      <vt:lpstr>Plantillas de correo electrónico Salesforce (1)</vt:lpstr>
      <vt:lpstr>Plantillas de correo electrónico Salesforce (2)</vt:lpstr>
      <vt:lpstr>Crear i editar plantillas de correo electrónico Salesforce (1)</vt:lpstr>
      <vt:lpstr>Crear i editar plantillas de correo electrónico Salesforce (2)</vt:lpstr>
      <vt:lpstr>Crear i editar plantillas de correo electrónico Salesforce (3)</vt:lpstr>
      <vt:lpstr>Grupos públicos</vt:lpstr>
      <vt:lpstr>Usuarios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Telefonía   para Salesforce COPS</dc:title>
  <dc:creator>M P</dc:creator>
  <cp:lastModifiedBy>M P</cp:lastModifiedBy>
  <cp:revision>94</cp:revision>
  <dcterms:created xsi:type="dcterms:W3CDTF">2020-10-15T09:15:40Z</dcterms:created>
  <dcterms:modified xsi:type="dcterms:W3CDTF">2022-03-06T23:11:59Z</dcterms:modified>
</cp:coreProperties>
</file>